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59"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7895" cy="9143861"/>
  <p:kinsoku lang="zh-CN" invalStChars="!%),.:;?]}¨·ˇˉ་―‖’”…‰∶、。〃々〉》」』】〕〗！＂＇％），．：；？］｀｜｝～￠" invalEndChars="([{·‘“〈《「『【〔〖（．［｛￡￥"/>
  <p:defaultTextStyle>
    <a:defPPr>
      <a:defRPr lang="zh-CN"/>
    </a:defPPr>
    <a:lvl1pPr marL="0" indent="0" algn="l" defTabSz="914400" fontAlgn="auto"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fontAlgn="auto"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fontAlgn="auto"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fontAlgn="auto"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fontAlgn="auto"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fontAlgn="auto"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fontAlgn="auto"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fontAlgn="auto"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fontAlgn="auto"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6666" autoAdjust="0"/>
    <p:restoredTop sz="100000" autoAdjust="0"/>
  </p:normalViewPr>
  <p:slideViewPr>
    <p:cSldViewPr snapToGrid="0" snapToObjects="1">
      <p:cViewPr>
        <p:scale>
          <a:sx n="56" d="100"/>
          <a:sy n="56"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 name="Text box"/>
          <p:cNvSpPr>
            <a:spLocks noGrp="1"/>
          </p:cNvSpPr>
          <p:nvPr>
            <p:ph type="hdr"/>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 name="Text box"/>
          <p:cNvSpPr>
            <a:spLocks noGrp="1"/>
          </p:cNvSpPr>
          <p:nvPr>
            <p:ph type="dt"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 name="Object"/>
          <p:cNvSpPr>
            <a:spLocks noGrp="1"/>
          </p:cNvSpPr>
          <p:nvPr>
            <p:ph type="sldImg" idx="2"/>
          </p:nvPr>
        </p:nvSpPr>
        <p:spPr>
          <a:xfrm rot="0">
            <a:off x="0" y="0"/>
            <a:ext cx="0" cy="0"/>
          </a:xfrm>
          <a:prstGeom prst="rect"/>
          <a:noFill/>
          <a:ln w="12700" cmpd="sng" cap="flat">
            <a:noFill/>
            <a:prstDash val="solid"/>
            <a:miter/>
          </a:ln>
        </p:spPr>
      </p:sp>
      <p:sp>
        <p:nvSpPr>
          <p:cNvPr id="5" name="Text box"/>
          <p:cNvSpPr>
            <a:spLocks noGrp="1"/>
          </p:cNvSpPr>
          <p:nvPr>
            <p:ph type="body" idx="3"/>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 name="Text box"/>
          <p:cNvSpPr>
            <a:spLocks noGrp="1"/>
          </p:cNvSpPr>
          <p:nvPr>
            <p:ph type="ftr" idx="4"/>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616124470"/>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latin typeface="Droid Sans" pitchFamily="0" charset="0"/>
        <a:ea typeface="Droid Sans" pitchFamily="0" charset="0"/>
        <a:cs typeface="Lucida Sans"/>
      </a:defRPr>
    </a:lvl1pPr>
    <a:lvl2pPr marL="0" indent="0" algn="l" defTabSz="914400" fontAlgn="base" hangingPunct="0">
      <a:lnSpc>
        <a:spcPct val="100000"/>
      </a:lnSpc>
      <a:spcBef>
        <a:spcPts val="0"/>
      </a:spcBef>
      <a:spcAft>
        <a:spcPts val="0"/>
      </a:spcAft>
      <a:buNone/>
      <a:defRPr sz="1200" b="0" i="0" u="none" strike="noStrike" kern="0" cap="none" spc="0" baseline="0">
        <a:latin typeface="Droid Sans" pitchFamily="0" charset="0"/>
        <a:ea typeface="Droid Sans" pitchFamily="0" charset="0"/>
        <a:cs typeface="Lucida Sans"/>
      </a:defRPr>
    </a:lvl2pPr>
    <a:lvl3pPr marL="0" indent="0" algn="l" defTabSz="914400" fontAlgn="base" hangingPunct="0">
      <a:lnSpc>
        <a:spcPct val="100000"/>
      </a:lnSpc>
      <a:spcBef>
        <a:spcPts val="0"/>
      </a:spcBef>
      <a:spcAft>
        <a:spcPts val="0"/>
      </a:spcAft>
      <a:buNone/>
      <a:defRPr sz="1200" b="0" i="0" u="none" strike="noStrike" kern="0" cap="none" spc="0" baseline="0">
        <a:latin typeface="Droid Sans" pitchFamily="0" charset="0"/>
        <a:ea typeface="Droid Sans" pitchFamily="0" charset="0"/>
        <a:cs typeface="Lucida Sans"/>
      </a:defRPr>
    </a:lvl3pPr>
    <a:lvl4pPr marL="0" indent="0" algn="l" defTabSz="914400" fontAlgn="base" hangingPunct="0">
      <a:lnSpc>
        <a:spcPct val="100000"/>
      </a:lnSpc>
      <a:spcBef>
        <a:spcPts val="0"/>
      </a:spcBef>
      <a:spcAft>
        <a:spcPts val="0"/>
      </a:spcAft>
      <a:buNone/>
      <a:defRPr sz="1200" b="0" i="0" u="none" strike="noStrike" kern="0" cap="none" spc="0" baseline="0">
        <a:latin typeface="Droid Sans" pitchFamily="0" charset="0"/>
        <a:ea typeface="Droid Sans" pitchFamily="0" charset="0"/>
        <a:cs typeface="Lucida Sans"/>
      </a:defRPr>
    </a:lvl4pPr>
    <a:lvl5pPr marL="0" indent="0" algn="l" defTabSz="914400" fontAlgn="base" hangingPunct="0">
      <a:lnSpc>
        <a:spcPct val="100000"/>
      </a:lnSpc>
      <a:spcBef>
        <a:spcPts val="0"/>
      </a:spcBef>
      <a:spcAft>
        <a:spcPts val="0"/>
      </a:spcAft>
      <a:buNone/>
      <a:defRPr sz="1200" b="0" i="0" u="none" strike="noStrike" kern="0" cap="none" spc="0" baseline="0">
        <a:latin typeface="Droid Sans" pitchFamily="0" charset="0"/>
        <a:ea typeface="Droid Sans" pitchFamily="0" charset="0"/>
        <a:cs typeface="Lucida Sans"/>
      </a:defRPr>
    </a:lvl5pPr>
    <a:lvl6pPr marL="0" indent="0" algn="l" defTabSz="914400" fontAlgn="base" hangingPunct="0">
      <a:lnSpc>
        <a:spcPct val="100000"/>
      </a:lnSpc>
      <a:spcBef>
        <a:spcPts val="0"/>
      </a:spcBef>
      <a:spcAft>
        <a:spcPts val="0"/>
      </a:spcAft>
      <a:buNone/>
      <a:defRPr sz="1200" b="0" i="0" u="none" strike="noStrike" kern="0" cap="none" spc="0" baseline="0">
        <a:latin typeface="Droid Sans" pitchFamily="0" charset="0"/>
        <a:ea typeface="Droid Sans" pitchFamily="0" charset="0"/>
        <a:cs typeface="Lucida Sans"/>
      </a:defRPr>
    </a:lvl6pPr>
    <a:lvl7pPr marL="0" indent="0" algn="l" defTabSz="914400" fontAlgn="base" hangingPunct="0">
      <a:lnSpc>
        <a:spcPct val="100000"/>
      </a:lnSpc>
      <a:spcBef>
        <a:spcPts val="0"/>
      </a:spcBef>
      <a:spcAft>
        <a:spcPts val="0"/>
      </a:spcAft>
      <a:buNone/>
      <a:defRPr sz="1200" b="0" i="0" u="none" strike="noStrike" kern="0" cap="none" spc="0" baseline="0">
        <a:latin typeface="Droid Sans" pitchFamily="0" charset="0"/>
        <a:ea typeface="Droid Sans" pitchFamily="0" charset="0"/>
        <a:cs typeface="Lucida Sans"/>
      </a:defRPr>
    </a:lvl7pPr>
    <a:lvl8pPr marL="0" indent="0" algn="l" defTabSz="914400" fontAlgn="base" hangingPunct="0">
      <a:lnSpc>
        <a:spcPct val="100000"/>
      </a:lnSpc>
      <a:spcBef>
        <a:spcPts val="0"/>
      </a:spcBef>
      <a:spcAft>
        <a:spcPts val="0"/>
      </a:spcAft>
      <a:buNone/>
      <a:defRPr sz="1200" b="0" i="0" u="none" strike="noStrike" kern="0" cap="none" spc="0" baseline="0">
        <a:latin typeface="Droid Sans" pitchFamily="0" charset="0"/>
        <a:ea typeface="Droid Sans" pitchFamily="0" charset="0"/>
        <a:cs typeface="Lucida Sans"/>
      </a:defRPr>
    </a:lvl8pPr>
    <a:lvl9pPr marL="0" indent="0" algn="l" defTabSz="914400" fontAlgn="base" hangingPunct="0">
      <a:lnSpc>
        <a:spcPct val="100000"/>
      </a:lnSpc>
      <a:spcBef>
        <a:spcPts val="0"/>
      </a:spcBef>
      <a:spcAft>
        <a:spcPts val="0"/>
      </a:spcAft>
      <a:buNone/>
      <a:defRPr sz="1200" b="0" i="0" u="none" strike="noStrike" kern="0" cap="none" spc="0" baseline="0">
        <a:latin typeface="Droid Sans" pitchFamily="0" charset="0"/>
        <a:ea typeface="Droid Sans" pitchFamily="0" charset="0"/>
        <a:cs typeface="Lucida San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5" name="Object"/>
          <p:cNvSpPr>
            <a:spLocks noGrp="1"/>
          </p:cNvSpPr>
          <p:nvPr>
            <p:ph type="sldImg"/>
          </p:nvPr>
        </p:nvSpPr>
        <p:spPr>
          <a:xfrm rot="0">
            <a:off x="0" y="0"/>
            <a:ext cx="0" cy="0"/>
          </a:xfrm>
          <a:prstGeom prst="rect"/>
          <a:noFill/>
          <a:ln w="12700" cmpd="sng" cap="flat">
            <a:noFill/>
            <a:prstDash val="solid"/>
            <a:miter/>
          </a:ln>
        </p:spPr>
      </p:sp>
      <p:sp>
        <p:nvSpPr>
          <p:cNvPr id="16"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Assalam-o-Alaikum. Hum Productify by emay ke liye ek complete digital marketing plan present kar rahe hain. Hamara focus simple hai: brand ki mixed product catalogue ko clear campaigns mein divide karke direct online sales increase karna.</a:t>
            </a:r>
            <a:endParaRPr lang="en-US" altLang="zh-CN"/>
          </a:p>
          <a:p>
            <a:endParaRPr lang="en-US" altLang="zh-CN"/>
          </a:p>
          <a:p>
            <a:r>
              <a:rPr lang="en-US" altLang="zh-CN"/>
              <a:t>[Sources]</a:t>
            </a:r>
            <a:endParaRPr lang="en-US" altLang="zh-CN"/>
          </a:p>
          <a:p>
            <a:r>
              <a:rPr lang="en-US" altLang="zh-CN"/>
              <a:t>- Generated generic product collage; no real product claims or performance results represented.</a:t>
            </a:r>
            <a:endParaRPr lang="en-US" altLang="zh-CN"/>
          </a:p>
          <a:p>
            <a:r>
              <a:rPr lang="en-US" altLang="zh-CN"/>
              <a:t>- User-provided Final Group Project Brief.</a:t>
            </a:r>
            <a:endParaRPr lang="zh-CN" altLang="en-US"/>
          </a:p>
        </p:txBody>
      </p:sp>
      <p:sp>
        <p:nvSpPr>
          <p:cNvPr id="1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390814520"/>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2" name="Object"/>
          <p:cNvSpPr>
            <a:spLocks noGrp="1"/>
          </p:cNvSpPr>
          <p:nvPr>
            <p:ph type="sldImg"/>
          </p:nvPr>
        </p:nvSpPr>
        <p:spPr>
          <a:xfrm rot="0">
            <a:off x="0" y="0"/>
            <a:ext cx="0" cy="0"/>
          </a:xfrm>
          <a:prstGeom prst="rect"/>
          <a:noFill/>
          <a:ln w="12700" cmpd="sng" cap="flat">
            <a:noFill/>
            <a:prstDash val="solid"/>
            <a:miter/>
          </a:ln>
        </p:spPr>
      </p:sp>
      <p:sp>
        <p:nvSpPr>
          <p:cNvPr id="33"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Productify by emay mein products bohat different hain. Is liye hum sab ko ek hi ad mein mix nahi karenge. Catalogue broad rahegi, lekin campaign customer ki need ke mutabiq focused hoga. Har member ki strategy completed customer order ko support karegi.</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34"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2016365262"/>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2" name="Object"/>
          <p:cNvSpPr>
            <a:spLocks noGrp="1"/>
          </p:cNvSpPr>
          <p:nvPr>
            <p:ph type="sldImg"/>
          </p:nvPr>
        </p:nvSpPr>
        <p:spPr>
          <a:xfrm rot="0">
            <a:off x="0" y="0"/>
            <a:ext cx="0" cy="0"/>
          </a:xfrm>
          <a:prstGeom prst="rect"/>
          <a:noFill/>
          <a:ln w="12700" cmpd="sng" cap="flat">
            <a:noFill/>
            <a:prstDash val="solid"/>
            <a:miter/>
          </a:ln>
        </p:spPr>
      </p:sp>
      <p:sp>
        <p:nvSpPr>
          <p:cNvPr id="43"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Main Member 1 hoon aur mera role business ko marketing se pehle samajhna hai. Main business model, customers, competitors aur hamara overall sales goal explain karungi.</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44"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81405623"/>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5" name="Object"/>
          <p:cNvSpPr>
            <a:spLocks noGrp="1"/>
          </p:cNvSpPr>
          <p:nvPr>
            <p:ph type="sldImg"/>
          </p:nvPr>
        </p:nvSpPr>
        <p:spPr>
          <a:xfrm rot="0">
            <a:off x="0" y="0"/>
            <a:ext cx="0" cy="0"/>
          </a:xfrm>
          <a:prstGeom prst="rect"/>
          <a:noFill/>
          <a:ln w="12700" cmpd="sng" cap="flat">
            <a:noFill/>
            <a:prstDash val="solid"/>
            <a:miter/>
          </a:ln>
        </p:spPr>
      </p:sp>
      <p:sp>
        <p:nvSpPr>
          <p:cNvPr id="66"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Productify by emay ek multi-category online retail brand hai. Lekin hum customer ko ‘har cheez’ nahi bech rahe. Hum useful discoveries bech rahe hain - aisi cheezen jo daily problem solve karein ya customer ko instantly attractive lagen. Teen major direct-buyer segments hain: young trend buyers, home and family shoppers, aur wellness ya comfort seekers.</a:t>
            </a:r>
            <a:endParaRPr lang="en-US" altLang="zh-CN"/>
          </a:p>
          <a:p>
            <a:endParaRPr lang="en-US" altLang="zh-CN"/>
          </a:p>
          <a:p>
            <a:r>
              <a:rPr lang="en-US" altLang="zh-CN"/>
              <a:t>[Sources]</a:t>
            </a:r>
            <a:endParaRPr lang="en-US" altLang="zh-CN"/>
          </a:p>
          <a:p>
            <a:r>
              <a:rPr lang="en-US" altLang="zh-CN"/>
              <a:t>- https://www.instagram.com/productifybyemay/</a:t>
            </a:r>
            <a:endParaRPr lang="en-US" altLang="zh-CN"/>
          </a:p>
          <a:p>
            <a:r>
              <a:rPr lang="en-US" altLang="zh-CN"/>
              <a:t>- https://www.youtube.com/shorts/wTGGCGHKkR8</a:t>
            </a:r>
            <a:endParaRPr lang="en-US" altLang="zh-CN"/>
          </a:p>
          <a:p>
            <a:r>
              <a:rPr lang="en-US" altLang="zh-CN"/>
              <a:t>- https://www.youtube.com/shorts/pipWRug4k0Q</a:t>
            </a:r>
            <a:endParaRPr lang="zh-CN" altLang="en-US"/>
          </a:p>
        </p:txBody>
      </p:sp>
      <p:sp>
        <p:nvSpPr>
          <p:cNvPr id="6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761491348"/>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89" name="Object"/>
          <p:cNvSpPr>
            <a:spLocks noGrp="1"/>
          </p:cNvSpPr>
          <p:nvPr>
            <p:ph type="sldImg"/>
          </p:nvPr>
        </p:nvSpPr>
        <p:spPr>
          <a:xfrm rot="0">
            <a:off x="0" y="0"/>
            <a:ext cx="0" cy="0"/>
          </a:xfrm>
          <a:prstGeom prst="rect"/>
          <a:noFill/>
          <a:ln w="12700" cmpd="sng" cap="flat">
            <a:noFill/>
            <a:prstDash val="solid"/>
            <a:miter/>
          </a:ln>
        </p:spPr>
      </p:sp>
      <p:sp>
        <p:nvSpPr>
          <p:cNvPr id="90"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Hamare competitors size aur price par strong hain. Daraz ka benefit variety aur reviews hain. HamzaStore clear multi-category shopping deta hai. Social resellers trends ko jaldi pick karte hain. Productify ka winning point yeh ho sakta hai: products ko carefully select karna, real use demonstrate karna, aur buyer ko personal easy support dena.</a:t>
            </a:r>
            <a:endParaRPr lang="en-US" altLang="zh-CN"/>
          </a:p>
          <a:p>
            <a:endParaRPr lang="en-US" altLang="zh-CN"/>
          </a:p>
          <a:p>
            <a:r>
              <a:rPr lang="en-US" altLang="zh-CN"/>
              <a:t>[Sources]</a:t>
            </a:r>
            <a:endParaRPr lang="en-US" altLang="zh-CN"/>
          </a:p>
          <a:p>
            <a:r>
              <a:rPr lang="en-US" altLang="zh-CN"/>
              <a:t>- https://www.daraz.pk/</a:t>
            </a:r>
            <a:endParaRPr lang="en-US" altLang="zh-CN"/>
          </a:p>
          <a:p>
            <a:r>
              <a:rPr lang="en-US" altLang="zh-CN"/>
              <a:t>- https://www.hamzastore.pk/</a:t>
            </a:r>
            <a:endParaRPr lang="en-US" altLang="zh-CN"/>
          </a:p>
          <a:p>
            <a:r>
              <a:rPr lang="en-US" altLang="zh-CN"/>
              <a:t>- https://www.instagram.com/productifybyemay/</a:t>
            </a:r>
            <a:endParaRPr lang="zh-CN" altLang="en-US"/>
          </a:p>
        </p:txBody>
      </p:sp>
      <p:sp>
        <p:nvSpPr>
          <p:cNvPr id="91"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267256664"/>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07" name="Object"/>
          <p:cNvSpPr>
            <a:spLocks noGrp="1"/>
          </p:cNvSpPr>
          <p:nvPr>
            <p:ph type="sldImg"/>
          </p:nvPr>
        </p:nvSpPr>
        <p:spPr>
          <a:xfrm rot="0">
            <a:off x="0" y="0"/>
            <a:ext cx="0" cy="0"/>
          </a:xfrm>
          <a:prstGeom prst="rect"/>
          <a:noFill/>
          <a:ln w="12700" cmpd="sng" cap="flat">
            <a:noFill/>
            <a:prstDash val="solid"/>
            <a:miter/>
          </a:ln>
        </p:spPr>
      </p:sp>
      <p:sp>
        <p:nvSpPr>
          <p:cNvPr id="108"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Hamara single overall goal completed direct orders increase karna hai. Followers aur views useful ho sakte hain, lekin woh final result nahi. Content demand create karega, Google Ads existing buying intent capture karega, aur SEO plus trust elements customer ko order complete karne mein help karenge.</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109"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528346692"/>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17" name="Object"/>
          <p:cNvSpPr>
            <a:spLocks noGrp="1"/>
          </p:cNvSpPr>
          <p:nvPr>
            <p:ph type="sldImg"/>
          </p:nvPr>
        </p:nvSpPr>
        <p:spPr>
          <a:xfrm rot="0">
            <a:off x="0" y="0"/>
            <a:ext cx="0" cy="0"/>
          </a:xfrm>
          <a:prstGeom prst="rect"/>
          <a:noFill/>
          <a:ln w="12700" cmpd="sng" cap="flat">
            <a:noFill/>
            <a:prstDash val="solid"/>
            <a:miter/>
          </a:ln>
        </p:spPr>
      </p:sp>
      <p:sp>
        <p:nvSpPr>
          <p:cNvPr id="118"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Main Member 2 hoon. Mera role aisa content create karna hai jo customer ko product samjhaye, interest build kare aur clear call-to-action ke through order tak le jaye.</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119"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526004011"/>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37" name="Object"/>
          <p:cNvSpPr>
            <a:spLocks noGrp="1"/>
          </p:cNvSpPr>
          <p:nvPr>
            <p:ph type="sldImg"/>
          </p:nvPr>
        </p:nvSpPr>
        <p:spPr>
          <a:xfrm rot="0">
            <a:off x="0" y="0"/>
            <a:ext cx="0" cy="0"/>
          </a:xfrm>
          <a:prstGeom prst="rect"/>
          <a:noFill/>
          <a:ln w="12700" cmpd="sng" cap="flat">
            <a:noFill/>
            <a:prstDash val="solid"/>
            <a:miter/>
          </a:ln>
        </p:spPr>
      </p:sp>
      <p:sp>
        <p:nvSpPr>
          <p:cNvPr id="138"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Hamara main video format hoga ‘5 Products That Make Everyday Life Easier.’ Video 30 se 45 seconds ka hoga. Start mein common problem ka hook, phir quick product demo, clear benefit, price aur end mein order CTA. Thumbnail ya cover par before-and-after feeling hogi, lekin design simple rakhenge.</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139"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761657930"/>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67" name="Object"/>
          <p:cNvSpPr>
            <a:spLocks noGrp="1"/>
          </p:cNvSpPr>
          <p:nvPr>
            <p:ph type="sldImg"/>
          </p:nvPr>
        </p:nvSpPr>
        <p:spPr>
          <a:xfrm rot="0">
            <a:off x="0" y="0"/>
            <a:ext cx="0" cy="0"/>
          </a:xfrm>
          <a:prstGeom prst="rect"/>
          <a:noFill/>
          <a:ln w="12700" cmpd="sng" cap="flat">
            <a:noFill/>
            <a:prstDash val="solid"/>
            <a:miter/>
          </a:ln>
        </p:spPr>
      </p:sp>
      <p:sp>
        <p:nvSpPr>
          <p:cNvPr id="168"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Content ka kaam sirf views lena nahi. Pehle curiosity create hogi, phir real demo, phir proof aur last mein action. Hum weekly content mein fashion, home, wellness aur kids categories rotate karenge, lekin har individual video mein sirf ek clear problem aur ek clear CTA hoga. Is tarah content direct sales goal ko support karega.</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169"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824117532"/>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77" name="Object"/>
          <p:cNvSpPr>
            <a:spLocks noGrp="1"/>
          </p:cNvSpPr>
          <p:nvPr>
            <p:ph type="sldImg"/>
          </p:nvPr>
        </p:nvSpPr>
        <p:spPr>
          <a:xfrm rot="0">
            <a:off x="0" y="0"/>
            <a:ext cx="0" cy="0"/>
          </a:xfrm>
          <a:prstGeom prst="rect"/>
          <a:noFill/>
          <a:ln w="12700" cmpd="sng" cap="flat">
            <a:noFill/>
            <a:prstDash val="solid"/>
            <a:miter/>
          </a:ln>
        </p:spPr>
      </p:sp>
      <p:sp>
        <p:nvSpPr>
          <p:cNvPr id="178"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Main Member 3 hoon. Mera role Google Search campaign aur SEO structure design karna hai, taake buying intent wale customers relevant category page par aayein.</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179"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548351194"/>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03" name="Object"/>
          <p:cNvSpPr>
            <a:spLocks noGrp="1"/>
          </p:cNvSpPr>
          <p:nvPr>
            <p:ph type="sldImg"/>
          </p:nvPr>
        </p:nvSpPr>
        <p:spPr>
          <a:xfrm rot="0">
            <a:off x="0" y="0"/>
            <a:ext cx="0" cy="0"/>
          </a:xfrm>
          <a:prstGeom prst="rect"/>
          <a:noFill/>
          <a:ln w="12700" cmpd="sng" cap="flat">
            <a:noFill/>
            <a:prstDash val="solid"/>
            <a:miter/>
          </a:ln>
        </p:spPr>
      </p:sp>
      <p:sp>
        <p:nvSpPr>
          <p:cNvPr id="204"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Campaign objective Sales hoga aur campaign type Search. Mixed catalogue ke bawajood hum ad groups need ke mutabiq separate rakhenge. Pehla fashion accessories, doosra wellness essentials. Square brackets exact match hain aur quotation marks phrase match. Har keyword customer ko relevant category page par bhejega, homepage par nahi.</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205"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753409408"/>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33" name="Object"/>
          <p:cNvSpPr>
            <a:spLocks noGrp="1"/>
          </p:cNvSpPr>
          <p:nvPr>
            <p:ph type="sldImg"/>
          </p:nvPr>
        </p:nvSpPr>
        <p:spPr>
          <a:xfrm rot="0">
            <a:off x="0" y="0"/>
            <a:ext cx="0" cy="0"/>
          </a:xfrm>
          <a:prstGeom prst="rect"/>
          <a:noFill/>
          <a:ln w="12700" cmpd="sng" cap="flat">
            <a:noFill/>
            <a:prstDash val="solid"/>
            <a:miter/>
          </a:ln>
        </p:spPr>
      </p:sp>
      <p:sp>
        <p:nvSpPr>
          <p:cNvPr id="234"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Yeh responsive search ad fashion accessories ad group ke liye hai. Headlines product category, delivery aur discovery benefit ko communicate karti hain. Descriptions clear ordering support mention karti hain. Negative keywords free, jobs, wholesale, repair aur used irrelevant clicks ko block karenge, taake budget buying customers par spend ho.</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235"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6170955"/>
      </p:ext>
    </p:extLst>
  </p:cSld>
  <p:clrMapOvr>
    <a:masterClrMapping/>
  </p:clrMapOvr>
</p:notes>
</file>

<file path=ppt/notesSlides/notesSlide13.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57" name="Object"/>
          <p:cNvSpPr>
            <a:spLocks noGrp="1"/>
          </p:cNvSpPr>
          <p:nvPr>
            <p:ph type="sldImg"/>
          </p:nvPr>
        </p:nvSpPr>
        <p:spPr>
          <a:xfrm rot="0">
            <a:off x="0" y="0"/>
            <a:ext cx="0" cy="0"/>
          </a:xfrm>
          <a:prstGeom prst="rect"/>
          <a:noFill/>
          <a:ln w="12700" cmpd="sng" cap="flat">
            <a:noFill/>
            <a:prstDash val="solid"/>
            <a:miter/>
          </a:ln>
        </p:spPr>
      </p:sp>
      <p:sp>
        <p:nvSpPr>
          <p:cNvPr id="258"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On-page SEO mein category title search-friendly hoga, har product ki unique benefit-based description hogi, aur product page par photos, FAQ, reviews aur clear WhatsApp CTA hoga. Off-page ke liye delivery ke baad genuine customer review request ki jayegi. Fake reviews use nahi honge. Is se search visibility ke saath trust bhi improve hoga.</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259"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276996574"/>
      </p:ext>
    </p:extLst>
  </p:cSld>
  <p:clrMapOvr>
    <a:masterClrMapping/>
  </p:clrMapOvr>
</p:notes>
</file>

<file path=ppt/notesSlides/notesSlide14.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67" name="Object"/>
          <p:cNvSpPr>
            <a:spLocks noGrp="1"/>
          </p:cNvSpPr>
          <p:nvPr>
            <p:ph type="sldImg"/>
          </p:nvPr>
        </p:nvSpPr>
        <p:spPr>
          <a:xfrm rot="0">
            <a:off x="0" y="0"/>
            <a:ext cx="0" cy="0"/>
          </a:xfrm>
          <a:prstGeom prst="rect"/>
          <a:noFill/>
          <a:ln w="12700" cmpd="sng" cap="flat">
            <a:noFill/>
            <a:prstDash val="solid"/>
            <a:miter/>
          </a:ln>
        </p:spPr>
      </p:sp>
      <p:sp>
        <p:nvSpPr>
          <p:cNvPr id="268"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Main Member 4 hoon. Mera role conversion define karna, weekly performance track karna aur client ko price, timeline aur payment plan ke saath complete offer present karna hai.</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269"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878065729"/>
      </p:ext>
    </p:extLst>
  </p:cSld>
  <p:clrMapOvr>
    <a:masterClrMapping/>
  </p:clrMapOvr>
</p:notes>
</file>

<file path=ppt/notesSlides/notesSlide15.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291" name="Object"/>
          <p:cNvSpPr>
            <a:spLocks noGrp="1"/>
          </p:cNvSpPr>
          <p:nvPr>
            <p:ph type="sldImg"/>
          </p:nvPr>
        </p:nvSpPr>
        <p:spPr>
          <a:xfrm rot="0">
            <a:off x="0" y="0"/>
            <a:ext cx="0" cy="0"/>
          </a:xfrm>
          <a:prstGeom prst="rect"/>
          <a:noFill/>
          <a:ln w="12700" cmpd="sng" cap="flat">
            <a:noFill/>
            <a:prstDash val="solid"/>
            <a:miter/>
          </a:ln>
        </p:spPr>
      </p:sp>
      <p:sp>
        <p:nvSpPr>
          <p:cNvPr id="292"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Hamari single conversion completed aur confirmed order hai. Har week teen numbers report honge: total orders, cost per sale, aur ROAS yani ad spend ke muqablay mein revenue. Agar result weak ho to hum creative, keywords ya landing page improve karenge - goal ko followers par shift nahi karenge.</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293"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717595911"/>
      </p:ext>
    </p:extLst>
  </p:cSld>
  <p:clrMapOvr>
    <a:masterClrMapping/>
  </p:clrMapOvr>
</p:notes>
</file>

<file path=ppt/notesSlides/notesSlide16.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23" name="Object"/>
          <p:cNvSpPr>
            <a:spLocks noGrp="1"/>
          </p:cNvSpPr>
          <p:nvPr>
            <p:ph type="sldImg"/>
          </p:nvPr>
        </p:nvSpPr>
        <p:spPr>
          <a:xfrm rot="0">
            <a:off x="0" y="0"/>
            <a:ext cx="0" cy="0"/>
          </a:xfrm>
          <a:prstGeom prst="rect"/>
          <a:noFill/>
          <a:ln w="12700" cmpd="sng" cap="flat">
            <a:noFill/>
            <a:prstDash val="solid"/>
            <a:miter/>
          </a:ln>
        </p:spPr>
      </p:sp>
      <p:sp>
        <p:nvSpPr>
          <p:cNvPr id="324"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Hum client ko 30-day pilot offer karenge. Service fee 45,000 rupees hogi; ad spend client separately pay karega. Package mein strategy, setup, eight short-form content pieces, Search Ads, basic SEO aur weekly reporting included hain. Payment 50 percent advance aur 50 percent campaign launch ke baad bank transfer ya digital payment se hogi.</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325"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383239421"/>
      </p:ext>
    </p:extLst>
  </p:cSld>
  <p:clrMapOvr>
    <a:masterClrMapping/>
  </p:clrMapOvr>
</p:notes>
</file>

<file path=ppt/notesSlides/notesSlide17.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32" name="Object"/>
          <p:cNvSpPr>
            <a:spLocks noGrp="1"/>
          </p:cNvSpPr>
          <p:nvPr>
            <p:ph type="sldImg"/>
          </p:nvPr>
        </p:nvSpPr>
        <p:spPr>
          <a:xfrm rot="0">
            <a:off x="0" y="0"/>
            <a:ext cx="0" cy="0"/>
          </a:xfrm>
          <a:prstGeom prst="rect"/>
          <a:noFill/>
          <a:ln w="12700" cmpd="sng" cap="flat">
            <a:noFill/>
            <a:prstDash val="solid"/>
            <a:miter/>
          </a:ln>
        </p:spPr>
      </p:sp>
      <p:sp>
        <p:nvSpPr>
          <p:cNvPr id="333" name="Text box"/>
          <p:cNvSpPr>
            <a:spLocks noGrp="1"/>
          </p:cNvSpPr>
          <p:nvPr>
            <p:ph type="body" idx="1"/>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Hamari recommendation yeh hai ke Productify by emay apni mixed catalogue ko strength rakhe, lekin marketing ko focused rakhe. Relatable demos demand create karenge, Search Ads buying intent capture karenge, trusted pages conversion improve karenge aur weekly reports client ko real business result dikhayengi. Thank you - ab hum aap ke questions answer karenge.</a:t>
            </a:r>
            <a:endParaRPr lang="en-US" altLang="zh-CN"/>
          </a:p>
          <a:p>
            <a:endParaRPr lang="en-US" altLang="zh-CN"/>
          </a:p>
          <a:p>
            <a:r>
              <a:rPr lang="en-US" altLang="zh-CN"/>
              <a:t>[Sources]</a:t>
            </a:r>
            <a:endParaRPr lang="en-US" altLang="zh-CN"/>
          </a:p>
          <a:p>
            <a:r>
              <a:rPr lang="en-US" altLang="zh-CN"/>
              <a:t>- User-provided Final Group Project Brief and approved project strategy.</a:t>
            </a:r>
            <a:endParaRPr lang="zh-CN" altLang="en-US"/>
          </a:p>
        </p:txBody>
      </p:sp>
      <p:sp>
        <p:nvSpPr>
          <p:cNvPr id="334" name="Text box"/>
          <p:cNvSpPr>
            <a:spLocks noGrp="1"/>
          </p:cNvSpPr>
          <p:nvPr>
            <p:ph type="sldNum" idx="5"/>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673543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showMasterSp="0" type="title" preserve="1">
  <p:cSld name="标题幻灯片">
    <p:bg>
      <p:bgPr>
        <a:solidFill>
          <a:srgbClr val="FFFFFF"/>
        </a:solidFill>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1319301"/>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57823008"/>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604082151"/>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98108124"/>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23763332"/>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93831797"/>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840249505"/>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999404785"/>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891255733"/>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56736352"/>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6637845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2201742"/>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lvl1pPr algn="l" defTabSz="914400" fontAlgn="auto" hangingPunct="1">
        <a:lnSpc>
          <a:spcPct val="90000"/>
        </a:lnSpc>
        <a:spcBef>
          <a:spcPts val="0"/>
        </a:spcBef>
        <a:buNone/>
        <a:defRPr sz="4400">
          <a:solidFill>
            <a:schemeClr val="tx1"/>
          </a:solidFill>
          <a:latin typeface="Calibri Light" pitchFamily="0" charset="0"/>
          <a:ea typeface="Calibri Light" pitchFamily="0" charset="0"/>
          <a:cs typeface="Calibri Light" pitchFamily="0" charset="0"/>
        </a:defRPr>
      </a:lvl1pPr>
    </p:titleStyle>
    <p:bodyStyle>
      <a:lvl1pPr marL="228600" indent="-228600" algn="l" defTabSz="914400" fontAlgn="auto" hangingPunct="1">
        <a:lnSpc>
          <a:spcPct val="90000"/>
        </a:lnSpc>
        <a:spcBef>
          <a:spcPts val="1000"/>
        </a:spcBef>
        <a:buChar char="•"/>
        <a:defRPr sz="2800">
          <a:solidFill>
            <a:schemeClr val="tx1"/>
          </a:solidFill>
          <a:latin typeface="Calibri" pitchFamily="0" charset="0"/>
          <a:ea typeface="Calibri" pitchFamily="0" charset="0"/>
          <a:cs typeface="Calibri" pitchFamily="0" charset="0"/>
        </a:defRPr>
      </a:lvl1pPr>
      <a:lvl2pPr marL="685800" indent="-228600" algn="l" defTabSz="914400" fontAlgn="auto" hangingPunct="1">
        <a:lnSpc>
          <a:spcPct val="90000"/>
        </a:lnSpc>
        <a:spcBef>
          <a:spcPts val="500"/>
        </a:spcBef>
        <a:buChar char="•"/>
        <a:defRPr sz="2400">
          <a:solidFill>
            <a:schemeClr val="tx1"/>
          </a:solidFill>
          <a:latin typeface="Calibri" pitchFamily="0" charset="0"/>
          <a:ea typeface="Calibri" pitchFamily="0" charset="0"/>
          <a:cs typeface="Calibri" pitchFamily="0" charset="0"/>
        </a:defRPr>
      </a:lvl2pPr>
      <a:lvl3pPr marL="1143000" indent="-228600" algn="l" defTabSz="914400" fontAlgn="auto" hangingPunct="1">
        <a:lnSpc>
          <a:spcPct val="90000"/>
        </a:lnSpc>
        <a:spcBef>
          <a:spcPts val="500"/>
        </a:spcBef>
        <a:buChar char="•"/>
        <a:defRPr sz="2000">
          <a:solidFill>
            <a:schemeClr val="tx1"/>
          </a:solidFill>
          <a:latin typeface="Calibri" pitchFamily="0" charset="0"/>
          <a:ea typeface="Calibri" pitchFamily="0" charset="0"/>
          <a:cs typeface="Calibri" pitchFamily="0" charset="0"/>
        </a:defRPr>
      </a:lvl3pPr>
      <a:lvl4pPr marL="1600200" indent="-228600" algn="l" defTabSz="914400" fontAlgn="auto" hangingPunct="1">
        <a:lnSpc>
          <a:spcPct val="90000"/>
        </a:lnSpc>
        <a:spcBef>
          <a:spcPts val="500"/>
        </a:spcBef>
        <a:buChar char="•"/>
        <a:defRPr sz="1800">
          <a:solidFill>
            <a:schemeClr val="tx1"/>
          </a:solidFill>
          <a:latin typeface="Calibri" pitchFamily="0" charset="0"/>
          <a:ea typeface="Calibri" pitchFamily="0" charset="0"/>
          <a:cs typeface="Calibri" pitchFamily="0" charset="0"/>
        </a:defRPr>
      </a:lvl4pPr>
      <a:lvl5pPr marL="2057400" indent="-228600" algn="l" defTabSz="914400" fontAlgn="auto" hangingPunct="1">
        <a:lnSpc>
          <a:spcPct val="90000"/>
        </a:lnSpc>
        <a:spcBef>
          <a:spcPts val="500"/>
        </a:spcBef>
        <a:buChar char="•"/>
        <a:defRPr sz="1800">
          <a:solidFill>
            <a:schemeClr val="tx1"/>
          </a:solidFill>
          <a:latin typeface="Calibri" pitchFamily="0" charset="0"/>
          <a:ea typeface="Calibri" pitchFamily="0" charset="0"/>
          <a:cs typeface="Calibri" pitchFamily="0" charset="0"/>
        </a:defRPr>
      </a:lvl5pPr>
      <a:lvl6pPr marL="2514600" indent="-228600" algn="l" defTabSz="914400" fontAlgn="auto" hangingPunct="1">
        <a:lnSpc>
          <a:spcPct val="90000"/>
        </a:lnSpc>
        <a:spcBef>
          <a:spcPts val="500"/>
        </a:spcBef>
        <a:buChar char="•"/>
        <a:defRPr sz="1800">
          <a:solidFill>
            <a:schemeClr val="tx1"/>
          </a:solidFill>
          <a:latin typeface="Calibri" pitchFamily="0" charset="0"/>
          <a:ea typeface="Calibri" pitchFamily="0" charset="0"/>
          <a:cs typeface="Calibri" pitchFamily="0" charset="0"/>
        </a:defRPr>
      </a:lvl6pPr>
      <a:lvl7pPr marL="2971800" indent="-228600" algn="l" defTabSz="914400" fontAlgn="auto" hangingPunct="1">
        <a:lnSpc>
          <a:spcPct val="90000"/>
        </a:lnSpc>
        <a:spcBef>
          <a:spcPts val="500"/>
        </a:spcBef>
        <a:buChar char="•"/>
        <a:defRPr sz="1800">
          <a:solidFill>
            <a:schemeClr val="tx1"/>
          </a:solidFill>
          <a:latin typeface="Calibri" pitchFamily="0" charset="0"/>
          <a:ea typeface="Calibri" pitchFamily="0" charset="0"/>
          <a:cs typeface="Calibri" pitchFamily="0" charset="0"/>
        </a:defRPr>
      </a:lvl7pPr>
      <a:lvl8pPr marL="3429000" indent="-228600" algn="l" defTabSz="914400" fontAlgn="auto" hangingPunct="1">
        <a:lnSpc>
          <a:spcPct val="90000"/>
        </a:lnSpc>
        <a:spcBef>
          <a:spcPts val="500"/>
        </a:spcBef>
        <a:buChar char="•"/>
        <a:defRPr sz="1800">
          <a:solidFill>
            <a:schemeClr val="tx1"/>
          </a:solidFill>
          <a:latin typeface="Calibri" pitchFamily="0" charset="0"/>
          <a:ea typeface="Calibri" pitchFamily="0" charset="0"/>
          <a:cs typeface="Calibri" pitchFamily="0" charset="0"/>
        </a:defRPr>
      </a:lvl8pPr>
      <a:lvl9pPr marL="3429000" indent="-228600" algn="l" defTabSz="914400" fontAlgn="auto" hangingPunct="1">
        <a:lnSpc>
          <a:spcPct val="90000"/>
        </a:lnSpc>
        <a:spcBef>
          <a:spcPts val="500"/>
        </a:spcBef>
        <a:buChar char="•"/>
        <a:defRPr sz="1800">
          <a:solidFill>
            <a:schemeClr val="tx1"/>
          </a:solidFill>
          <a:latin typeface="Calibri" pitchFamily="0" charset="0"/>
          <a:ea typeface="Calibri"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8" name="Image"/>
          <p:cNvPicPr>
            <a:picLocks noChangeAspect="1"/>
          </p:cNvPicPr>
          <p:nvPr/>
        </p:nvPicPr>
        <p:blipFill>
          <a:blip r:embed="rId1" cstate="print"/>
          <a:srcRect t="27" b="27"/>
          <a:stretch>
            <a:fillRect/>
          </a:stretch>
        </p:blipFill>
        <p:spPr>
          <a:xfrm rot="0">
            <a:off x="0" y="0"/>
            <a:ext cx="12192000" cy="6858000"/>
          </a:xfrm>
          <a:prstGeom prst="rect"/>
          <a:noFill/>
          <a:ln w="12700" cmpd="sng" cap="flat">
            <a:noFill/>
            <a:prstDash val="solid"/>
            <a:miter/>
          </a:ln>
        </p:spPr>
      </p:pic>
      <p:sp>
        <p:nvSpPr>
          <p:cNvPr id="9" name="Rounded rectangle"/>
          <p:cNvSpPr>
            <a:spLocks/>
          </p:cNvSpPr>
          <p:nvPr/>
        </p:nvSpPr>
        <p:spPr>
          <a:xfrm rot="0">
            <a:off x="0" y="0"/>
            <a:ext cx="5810250" cy="6858000"/>
          </a:xfrm>
          <a:prstGeom prst="roundRect">
            <a:avLst>
              <a:gd name="adj" fmla="val 1967"/>
            </a:avLst>
          </a:prstGeom>
          <a:solidFill>
            <a:srgbClr val="FFFFFF">
              <a:alpha val="90000"/>
            </a:srgbClr>
          </a:solidFill>
          <a:ln w="9525" cmpd="sng" cap="flat">
            <a:solidFill>
              <a:srgbClr val="FFFFFF">
                <a:alpha val="0"/>
              </a:srgbClr>
            </a:solidFill>
            <a:prstDash val="solid"/>
            <a:round/>
          </a:ln>
        </p:spPr>
      </p:sp>
      <p:sp>
        <p:nvSpPr>
          <p:cNvPr id="10" name="Rectangle"/>
          <p:cNvSpPr>
            <a:spLocks/>
          </p:cNvSpPr>
          <p:nvPr/>
        </p:nvSpPr>
        <p:spPr>
          <a:xfrm rot="0">
            <a:off x="666750" y="685800"/>
            <a:ext cx="352425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050" b="1" i="0" u="none" strike="noStrike" kern="1200" cap="none" spc="0" baseline="0">
                <a:solidFill>
                  <a:srgbClr val="168FC7"/>
                </a:solidFill>
                <a:latin typeface="Calibri" pitchFamily="0" charset="0"/>
                <a:ea typeface="Calibri" pitchFamily="0" charset="0"/>
                <a:cs typeface="Calibri" pitchFamily="0" charset="0"/>
              </a:rPr>
              <a:t>Rhombix technologies internship</a:t>
            </a:r>
            <a:endParaRPr lang="zh-CN" altLang="en-US" sz="1050" b="1" i="0" u="none" strike="noStrike" kern="1200" cap="none" spc="0" baseline="0">
              <a:solidFill>
                <a:srgbClr val="168FC7"/>
              </a:solidFill>
              <a:latin typeface="Calibri" pitchFamily="0" charset="0"/>
              <a:ea typeface="Calibri" pitchFamily="0" charset="0"/>
              <a:cs typeface="Calibri" pitchFamily="0" charset="0"/>
            </a:endParaRPr>
          </a:p>
        </p:txBody>
      </p:sp>
      <p:sp>
        <p:nvSpPr>
          <p:cNvPr id="11" name="Rectangle"/>
          <p:cNvSpPr>
            <a:spLocks/>
          </p:cNvSpPr>
          <p:nvPr/>
        </p:nvSpPr>
        <p:spPr>
          <a:xfrm rot="0">
            <a:off x="666750" y="1390650"/>
            <a:ext cx="4762500" cy="1428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4200" b="1" i="0" u="none" strike="noStrike" kern="1200" cap="none" spc="0" baseline="0">
                <a:solidFill>
                  <a:srgbClr val="102A43"/>
                </a:solidFill>
                <a:latin typeface="Calibri" pitchFamily="0" charset="0"/>
                <a:ea typeface="Calibri" pitchFamily="0" charset="0"/>
                <a:cs typeface="Calibri" pitchFamily="0" charset="0"/>
              </a:rPr>
              <a:t>Productify</a:t>
            </a:r>
            <a:endParaRPr lang="en-US" altLang="zh-CN" sz="4200" b="1" i="0" u="none" strike="noStrike" kern="1200" cap="none" spc="0" baseline="0">
              <a:solidFill>
                <a:srgbClr val="102A43"/>
              </a:solidFill>
              <a:latin typeface="Calibri" pitchFamily="0" charset="0"/>
              <a:ea typeface="Calibri" pitchFamily="0" charset="0"/>
              <a:cs typeface="Calibri" pitchFamily="0" charset="0"/>
            </a:endParaRPr>
          </a:p>
          <a:p>
            <a:pPr marL="0" indent="0" algn="l">
              <a:lnSpc>
                <a:spcPct val="100000"/>
              </a:lnSpc>
              <a:spcBef>
                <a:spcPts val="0"/>
              </a:spcBef>
              <a:spcAft>
                <a:spcPts val="0"/>
              </a:spcAft>
              <a:buNone/>
            </a:pPr>
            <a:r>
              <a:rPr lang="en-US" altLang="zh-CN" sz="4200" b="1" i="0" u="none" strike="noStrike" kern="1200" cap="none" spc="0" baseline="0">
                <a:solidFill>
                  <a:srgbClr val="102A43"/>
                </a:solidFill>
                <a:latin typeface="Calibri" pitchFamily="0" charset="0"/>
                <a:ea typeface="Calibri" pitchFamily="0" charset="0"/>
                <a:cs typeface="Calibri" pitchFamily="0" charset="0"/>
              </a:rPr>
              <a:t>by emay</a:t>
            </a:r>
            <a:endParaRPr lang="zh-CN" altLang="en-US" sz="42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2" name="Rectangle"/>
          <p:cNvSpPr>
            <a:spLocks/>
          </p:cNvSpPr>
          <p:nvPr/>
        </p:nvSpPr>
        <p:spPr>
          <a:xfrm rot="0">
            <a:off x="666750" y="3086100"/>
            <a:ext cx="4381500" cy="8763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0" i="0" u="none" strike="noStrike" kern="1200" cap="none" spc="0" baseline="0">
                <a:solidFill>
                  <a:srgbClr val="183B56"/>
                </a:solidFill>
                <a:latin typeface="Calibri" pitchFamily="0" charset="0"/>
                <a:ea typeface="Calibri" pitchFamily="0" charset="0"/>
                <a:cs typeface="Calibri" pitchFamily="0" charset="0"/>
              </a:rPr>
              <a:t>A direct-sales digital marketing plan for a mixed online catalogue</a:t>
            </a:r>
            <a:endParaRPr lang="zh-CN" altLang="en-US" sz="1875" b="0" i="0" u="none" strike="noStrike" kern="1200" cap="none" spc="0" baseline="0">
              <a:solidFill>
                <a:srgbClr val="183B56"/>
              </a:solidFill>
              <a:latin typeface="Calibri" pitchFamily="0" charset="0"/>
              <a:ea typeface="Calibri" pitchFamily="0" charset="0"/>
              <a:cs typeface="Calibri" pitchFamily="0" charset="0"/>
            </a:endParaRPr>
          </a:p>
        </p:txBody>
      </p:sp>
      <p:sp>
        <p:nvSpPr>
          <p:cNvPr id="13" name="Rectangle"/>
          <p:cNvSpPr>
            <a:spLocks/>
          </p:cNvSpPr>
          <p:nvPr/>
        </p:nvSpPr>
        <p:spPr>
          <a:xfrm rot="0">
            <a:off x="666750" y="5219700"/>
            <a:ext cx="4476750" cy="2857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1" i="0" u="none" strike="noStrike" kern="1200" cap="none" spc="0" baseline="0">
                <a:solidFill>
                  <a:srgbClr val="5D7184"/>
                </a:solidFill>
                <a:latin typeface="Calibri" pitchFamily="0" charset="0"/>
                <a:ea typeface="Calibri" pitchFamily="0" charset="0"/>
                <a:cs typeface="Calibri" pitchFamily="0" charset="0"/>
              </a:rPr>
              <a:t>Prepared by: Amna irfan</a:t>
            </a:r>
            <a:endParaRPr lang="zh-CN" altLang="en-US" sz="1275" b="1" i="0" u="none" strike="noStrike" kern="1200" cap="none" spc="0" baseline="0">
              <a:solidFill>
                <a:srgbClr val="5D7184"/>
              </a:solidFill>
              <a:latin typeface="Calibri" pitchFamily="0" charset="0"/>
              <a:ea typeface="Calibri" pitchFamily="0" charset="0"/>
              <a:cs typeface="Calibri" pitchFamily="0" charset="0"/>
            </a:endParaRPr>
          </a:p>
        </p:txBody>
      </p:sp>
      <p:sp>
        <p:nvSpPr>
          <p:cNvPr id="14" name="Rectangle"/>
          <p:cNvSpPr>
            <a:spLocks/>
          </p:cNvSpPr>
          <p:nvPr/>
        </p:nvSpPr>
        <p:spPr>
          <a:xfrm rot="0">
            <a:off x="666750" y="5638800"/>
            <a:ext cx="4000499" cy="2476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25" b="1" i="0" u="none" strike="noStrike" kern="1200" cap="none" spc="0" baseline="0">
                <a:solidFill>
                  <a:srgbClr val="168FC7"/>
                </a:solidFill>
                <a:latin typeface="Calibri" pitchFamily="0" charset="0"/>
                <a:ea typeface="Calibri" pitchFamily="0" charset="0"/>
                <a:cs typeface="Calibri" pitchFamily="0" charset="0"/>
              </a:rPr>
              <a:t>Task 1 &amp; 2</a:t>
            </a:r>
            <a:endParaRPr lang="zh-CN" altLang="en-US" sz="1125" b="1" i="0" u="none" strike="noStrike" kern="1200" cap="none" spc="0" baseline="0">
              <a:solidFill>
                <a:srgbClr val="168FC7"/>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602254165"/>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8" name="Rectangle"/>
          <p:cNvSpPr>
            <a:spLocks/>
          </p:cNvSpPr>
          <p:nvPr/>
        </p:nvSpPr>
        <p:spPr>
          <a:xfrm rot="0">
            <a:off x="609600" y="323849"/>
            <a:ext cx="314324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OUR STRATEGY</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19"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One catalogue. One goal. Clear buying paths.</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0"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21" name="Rectangle"/>
          <p:cNvSpPr>
            <a:spLocks/>
          </p:cNvSpPr>
          <p:nvPr/>
        </p:nvSpPr>
        <p:spPr>
          <a:xfrm rot="0">
            <a:off x="857250" y="1952625"/>
            <a:ext cx="2857500" cy="36195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75" b="1" i="0" u="none" strike="noStrike" kern="1200" cap="none" spc="0" baseline="0">
                <a:solidFill>
                  <a:srgbClr val="102A43"/>
                </a:solidFill>
                <a:latin typeface="Calibri" pitchFamily="0" charset="0"/>
                <a:ea typeface="Calibri" pitchFamily="0" charset="0"/>
                <a:cs typeface="Calibri" pitchFamily="0" charset="0"/>
              </a:rPr>
              <a:t>Mixed catalogue</a:t>
            </a:r>
            <a:endParaRPr lang="zh-CN" altLang="en-US" sz="18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22" name="Rectangle"/>
          <p:cNvSpPr>
            <a:spLocks/>
          </p:cNvSpPr>
          <p:nvPr/>
        </p:nvSpPr>
        <p:spPr>
          <a:xfrm rot="0">
            <a:off x="4667250" y="1952625"/>
            <a:ext cx="2857500" cy="36195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75" b="1" i="0" u="none" strike="noStrike" kern="1200" cap="none" spc="0" baseline="0">
                <a:solidFill>
                  <a:srgbClr val="102A43"/>
                </a:solidFill>
                <a:latin typeface="Calibri" pitchFamily="0" charset="0"/>
                <a:ea typeface="Calibri" pitchFamily="0" charset="0"/>
                <a:cs typeface="Calibri" pitchFamily="0" charset="0"/>
              </a:rPr>
              <a:t>Focused campaigns</a:t>
            </a:r>
            <a:endParaRPr lang="zh-CN" altLang="en-US" sz="18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23" name="Rectangle"/>
          <p:cNvSpPr>
            <a:spLocks/>
          </p:cNvSpPr>
          <p:nvPr/>
        </p:nvSpPr>
        <p:spPr>
          <a:xfrm rot="0">
            <a:off x="8477250" y="1952625"/>
            <a:ext cx="2857499" cy="36195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75" b="1" i="0" u="none" strike="noStrike" kern="1200" cap="none" spc="0" baseline="0">
                <a:solidFill>
                  <a:srgbClr val="102A43"/>
                </a:solidFill>
                <a:latin typeface="Calibri" pitchFamily="0" charset="0"/>
                <a:ea typeface="Calibri" pitchFamily="0" charset="0"/>
                <a:cs typeface="Calibri" pitchFamily="0" charset="0"/>
              </a:rPr>
              <a:t>Completed orders</a:t>
            </a:r>
            <a:endParaRPr lang="zh-CN" altLang="en-US" sz="18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24" name="右箭头"/>
          <p:cNvSpPr>
            <a:spLocks/>
          </p:cNvSpPr>
          <p:nvPr/>
        </p:nvSpPr>
        <p:spPr>
          <a:xfrm rot="0">
            <a:off x="3638550" y="1981200"/>
            <a:ext cx="857250" cy="323850"/>
          </a:xfrm>
          <a:prstGeom prst="rightArrow">
            <a:avLst>
              <a:gd name="adj1" fmla="val 50000"/>
              <a:gd name="adj2" fmla="val 48749"/>
            </a:avLst>
          </a:prstGeom>
          <a:solidFill>
            <a:srgbClr val="52B9DE"/>
          </a:solidFill>
          <a:ln w="0" cmpd="sng" cap="flat">
            <a:solidFill>
              <a:srgbClr val="52B9DE"/>
            </a:solidFill>
            <a:prstDash val="solid"/>
            <a:round/>
          </a:ln>
        </p:spPr>
      </p:sp>
      <p:sp>
        <p:nvSpPr>
          <p:cNvPr id="25" name="右箭头"/>
          <p:cNvSpPr>
            <a:spLocks/>
          </p:cNvSpPr>
          <p:nvPr/>
        </p:nvSpPr>
        <p:spPr>
          <a:xfrm rot="0">
            <a:off x="7448550" y="1981200"/>
            <a:ext cx="857249" cy="323850"/>
          </a:xfrm>
          <a:prstGeom prst="rightArrow">
            <a:avLst>
              <a:gd name="adj1" fmla="val 50000"/>
              <a:gd name="adj2" fmla="val 48749"/>
            </a:avLst>
          </a:prstGeom>
          <a:solidFill>
            <a:srgbClr val="F26B5B"/>
          </a:solidFill>
          <a:ln w="0" cmpd="sng" cap="flat">
            <a:solidFill>
              <a:srgbClr val="F26B5B"/>
            </a:solidFill>
            <a:prstDash val="solid"/>
            <a:round/>
          </a:ln>
        </p:spPr>
      </p:sp>
      <p:sp>
        <p:nvSpPr>
          <p:cNvPr id="26" name="Rounded rectangle"/>
          <p:cNvSpPr>
            <a:spLocks/>
          </p:cNvSpPr>
          <p:nvPr/>
        </p:nvSpPr>
        <p:spPr>
          <a:xfrm rot="0">
            <a:off x="857250" y="2667000"/>
            <a:ext cx="10477499" cy="2047875"/>
          </a:xfrm>
          <a:prstGeom prst="roundRect">
            <a:avLst>
              <a:gd name="adj" fmla="val 5578"/>
            </a:avLst>
          </a:prstGeom>
          <a:solidFill>
            <a:srgbClr val="EAF6FB"/>
          </a:solidFill>
          <a:ln w="9525" cmpd="sng" cap="flat">
            <a:solidFill>
              <a:srgbClr val="EAF6FB"/>
            </a:solidFill>
            <a:prstDash val="solid"/>
            <a:round/>
          </a:ln>
        </p:spPr>
      </p:sp>
      <p:sp>
        <p:nvSpPr>
          <p:cNvPr id="27" name="Rectangle"/>
          <p:cNvSpPr>
            <a:spLocks/>
          </p:cNvSpPr>
          <p:nvPr/>
        </p:nvSpPr>
        <p:spPr>
          <a:xfrm rot="0">
            <a:off x="1190625" y="3028950"/>
            <a:ext cx="2286000"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050" b="1" i="0" u="none" strike="noStrike" kern="1200" cap="none" spc="0" baseline="0">
                <a:solidFill>
                  <a:srgbClr val="168FC7"/>
                </a:solidFill>
                <a:latin typeface="Calibri" pitchFamily="0" charset="0"/>
                <a:ea typeface="Calibri" pitchFamily="0" charset="0"/>
                <a:cs typeface="Calibri" pitchFamily="0" charset="0"/>
              </a:rPr>
              <a:t>BUSINESS GOAL</a:t>
            </a:r>
            <a:endParaRPr lang="zh-CN" altLang="en-US" sz="1050" b="1" i="0" u="none" strike="noStrike" kern="1200" cap="none" spc="0" baseline="0">
              <a:solidFill>
                <a:srgbClr val="168FC7"/>
              </a:solidFill>
              <a:latin typeface="Calibri" pitchFamily="0" charset="0"/>
              <a:ea typeface="Calibri" pitchFamily="0" charset="0"/>
              <a:cs typeface="Calibri" pitchFamily="0" charset="0"/>
            </a:endParaRPr>
          </a:p>
        </p:txBody>
      </p:sp>
      <p:sp>
        <p:nvSpPr>
          <p:cNvPr id="28" name="Rectangle"/>
          <p:cNvSpPr>
            <a:spLocks/>
          </p:cNvSpPr>
          <p:nvPr/>
        </p:nvSpPr>
        <p:spPr>
          <a:xfrm rot="0">
            <a:off x="1190625" y="3352800"/>
            <a:ext cx="6858000" cy="523874"/>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925" b="1" i="0" u="none" strike="noStrike" kern="1200" cap="none" spc="0" baseline="0">
                <a:solidFill>
                  <a:srgbClr val="102A43"/>
                </a:solidFill>
                <a:latin typeface="Calibri" pitchFamily="0" charset="0"/>
                <a:ea typeface="Calibri" pitchFamily="0" charset="0"/>
                <a:cs typeface="Calibri" pitchFamily="0" charset="0"/>
              </a:rPr>
              <a:t>Increase direct product sales</a:t>
            </a:r>
            <a:endParaRPr lang="zh-CN" altLang="en-US" sz="2925" b="1" i="0" u="none" strike="noStrike" kern="1200" cap="none" spc="0" baseline="0">
              <a:solidFill>
                <a:srgbClr val="102A43"/>
              </a:solidFill>
              <a:latin typeface="Calibri" pitchFamily="0" charset="0"/>
              <a:ea typeface="Calibri" pitchFamily="0" charset="0"/>
              <a:cs typeface="Calibri" pitchFamily="0" charset="0"/>
            </a:endParaRPr>
          </a:p>
        </p:txBody>
      </p:sp>
      <p:sp>
        <p:nvSpPr>
          <p:cNvPr id="29" name="Rectangle"/>
          <p:cNvSpPr>
            <a:spLocks/>
          </p:cNvSpPr>
          <p:nvPr/>
        </p:nvSpPr>
        <p:spPr>
          <a:xfrm rot="0">
            <a:off x="1190625" y="4048124"/>
            <a:ext cx="9144001" cy="3238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183B56"/>
                </a:solidFill>
                <a:latin typeface="Calibri" pitchFamily="0" charset="0"/>
                <a:ea typeface="Calibri" pitchFamily="0" charset="0"/>
                <a:cs typeface="Calibri" pitchFamily="0" charset="0"/>
              </a:rPr>
              <a:t>Content creates desire · Search captures intent · SEO builds trust · Analytics proves sales</a:t>
            </a:r>
            <a:endParaRPr lang="zh-CN" altLang="en-US" sz="1500" b="0" i="0" u="none" strike="noStrike" kern="1200" cap="none" spc="0" baseline="0">
              <a:solidFill>
                <a:srgbClr val="183B56"/>
              </a:solidFill>
              <a:latin typeface="Calibri" pitchFamily="0" charset="0"/>
              <a:ea typeface="Calibri" pitchFamily="0" charset="0"/>
              <a:cs typeface="Calibri" pitchFamily="0" charset="0"/>
            </a:endParaRPr>
          </a:p>
        </p:txBody>
      </p:sp>
      <p:sp>
        <p:nvSpPr>
          <p:cNvPr id="30" name="Rectangle"/>
          <p:cNvSpPr>
            <a:spLocks/>
          </p:cNvSpPr>
          <p:nvPr/>
        </p:nvSpPr>
        <p:spPr>
          <a:xfrm rot="0">
            <a:off x="609600" y="6515100"/>
            <a:ext cx="4762499" cy="1714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750" b="0" i="0" u="none" strike="noStrike" kern="1200" cap="none" spc="0" baseline="0">
                <a:solidFill>
                  <a:srgbClr val="5D7184"/>
                </a:solidFill>
                <a:latin typeface="Calibri" pitchFamily="0" charset="0"/>
                <a:ea typeface="Calibri" pitchFamily="0" charset="0"/>
                <a:cs typeface="Calibri" pitchFamily="0" charset="0"/>
              </a:rPr>
              <a:t>Internship task -Digital Marketing &amp; Freelancing</a:t>
            </a:r>
            <a:endParaRPr lang="zh-CN" altLang="en-US" sz="750" b="0" i="0" u="none" strike="noStrike" kern="1200" cap="none" spc="0" baseline="0">
              <a:solidFill>
                <a:srgbClr val="5D7184"/>
              </a:solidFill>
              <a:latin typeface="Calibri" pitchFamily="0" charset="0"/>
              <a:ea typeface="Calibri" pitchFamily="0" charset="0"/>
              <a:cs typeface="Calibri" pitchFamily="0" charset="0"/>
            </a:endParaRPr>
          </a:p>
        </p:txBody>
      </p:sp>
      <p:sp>
        <p:nvSpPr>
          <p:cNvPr id="31"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02</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755381952"/>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168FC7"/>
        </a:solidFill>
      </p:bgPr>
    </p:bg>
    <p:spTree>
      <p:nvGrpSpPr>
        <p:cNvPr id="1" name=""/>
        <p:cNvGrpSpPr/>
        <p:nvPr/>
      </p:nvGrpSpPr>
      <p:grpSpPr>
        <a:xfrm>
          <a:off x="0" y="0"/>
          <a:ext cx="0" cy="0"/>
          <a:chOff x="0" y="0"/>
          <a:chExt cx="0" cy="0"/>
        </a:xfrm>
      </p:grpSpPr>
      <p:sp>
        <p:nvSpPr>
          <p:cNvPr id="35" name="Rectangle"/>
          <p:cNvSpPr>
            <a:spLocks/>
          </p:cNvSpPr>
          <p:nvPr/>
        </p:nvSpPr>
        <p:spPr>
          <a:xfrm rot="0">
            <a:off x="685800" y="628650"/>
            <a:ext cx="238124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endParaRPr lang="zh-CN" altLang="en-US" sz="1125" b="1" i="0" u="none" strike="noStrike" kern="1200" cap="none" spc="0" baseline="0">
              <a:solidFill>
                <a:srgbClr val="FFFFFF"/>
              </a:solidFill>
              <a:latin typeface="Calibri" pitchFamily="0" charset="0"/>
              <a:ea typeface="Calibri" pitchFamily="0" charset="0"/>
              <a:cs typeface="Calibri" pitchFamily="0" charset="0"/>
            </a:endParaRPr>
          </a:p>
        </p:txBody>
      </p:sp>
      <p:sp>
        <p:nvSpPr>
          <p:cNvPr id="36" name="Rectangle"/>
          <p:cNvSpPr>
            <a:spLocks/>
          </p:cNvSpPr>
          <p:nvPr/>
        </p:nvSpPr>
        <p:spPr>
          <a:xfrm rot="0">
            <a:off x="685800" y="1676400"/>
            <a:ext cx="7524750" cy="8572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750" b="1" i="0" u="none" strike="noStrike" kern="1200" cap="none" spc="0" baseline="0">
                <a:solidFill>
                  <a:srgbClr val="FFFFFF"/>
                </a:solidFill>
                <a:latin typeface="Calibri" pitchFamily="0" charset="0"/>
                <a:ea typeface="Calibri" pitchFamily="0" charset="0"/>
                <a:cs typeface="Calibri" pitchFamily="0" charset="0"/>
              </a:rPr>
              <a:t>Research &amp; Strategy Lead</a:t>
            </a:r>
            <a:endParaRPr lang="zh-CN" altLang="en-US" sz="3750" b="1" i="0" u="none" strike="noStrike" kern="1200" cap="none" spc="0" baseline="0">
              <a:solidFill>
                <a:srgbClr val="FFFFFF"/>
              </a:solidFill>
              <a:latin typeface="Calibri" pitchFamily="0" charset="0"/>
              <a:ea typeface="Calibri" pitchFamily="0" charset="0"/>
              <a:cs typeface="Calibri" pitchFamily="0" charset="0"/>
            </a:endParaRPr>
          </a:p>
        </p:txBody>
      </p:sp>
      <p:sp>
        <p:nvSpPr>
          <p:cNvPr id="37" name="Rectangle"/>
          <p:cNvSpPr>
            <a:spLocks/>
          </p:cNvSpPr>
          <p:nvPr/>
        </p:nvSpPr>
        <p:spPr>
          <a:xfrm rot="0">
            <a:off x="685800" y="2781300"/>
            <a:ext cx="6858000" cy="8382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0" i="0" u="none" strike="noStrike" kern="1200" cap="none" spc="0" baseline="0">
                <a:solidFill>
                  <a:srgbClr val="EAF6FB"/>
                </a:solidFill>
                <a:latin typeface="Calibri" pitchFamily="0" charset="0"/>
                <a:ea typeface="Calibri" pitchFamily="0" charset="0"/>
                <a:cs typeface="Calibri" pitchFamily="0" charset="0"/>
              </a:rPr>
              <a:t>Understands who should buy, why they should care, and where the brand can win.</a:t>
            </a:r>
            <a:endParaRPr lang="zh-CN" altLang="en-US" sz="1875" b="0" i="0" u="none" strike="noStrike" kern="1200" cap="none" spc="0" baseline="0">
              <a:solidFill>
                <a:srgbClr val="EAF6FB"/>
              </a:solidFill>
              <a:latin typeface="Calibri" pitchFamily="0" charset="0"/>
              <a:ea typeface="Calibri" pitchFamily="0" charset="0"/>
              <a:cs typeface="Calibri" pitchFamily="0" charset="0"/>
            </a:endParaRPr>
          </a:p>
        </p:txBody>
      </p:sp>
      <p:sp>
        <p:nvSpPr>
          <p:cNvPr id="38" name="Oval"/>
          <p:cNvSpPr>
            <a:spLocks/>
          </p:cNvSpPr>
          <p:nvPr/>
        </p:nvSpPr>
        <p:spPr>
          <a:xfrm rot="0">
            <a:off x="8858250" y="1047750"/>
            <a:ext cx="2095499" cy="2095499"/>
          </a:xfrm>
          <a:prstGeom prst="ellipse"/>
          <a:solidFill>
            <a:srgbClr val="FFFFFF"/>
          </a:solidFill>
          <a:ln w="9525" cmpd="sng" cap="flat">
            <a:solidFill>
              <a:srgbClr val="FFFFFF"/>
            </a:solidFill>
            <a:prstDash val="solid"/>
            <a:round/>
          </a:ln>
        </p:spPr>
      </p:sp>
      <p:sp>
        <p:nvSpPr>
          <p:cNvPr id="39" name="Rectangle"/>
          <p:cNvSpPr>
            <a:spLocks/>
          </p:cNvSpPr>
          <p:nvPr/>
        </p:nvSpPr>
        <p:spPr>
          <a:xfrm rot="0">
            <a:off x="8858250" y="1047750"/>
            <a:ext cx="2095499" cy="2095499"/>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6900" b="1" i="0" u="none" strike="noStrike" kern="1200" cap="none" spc="0" baseline="0">
                <a:solidFill>
                  <a:srgbClr val="168FC7"/>
                </a:solidFill>
                <a:latin typeface="Calibri" pitchFamily="0" charset="0"/>
                <a:ea typeface="Calibri" pitchFamily="0" charset="0"/>
                <a:cs typeface="Calibri" pitchFamily="0" charset="0"/>
              </a:rPr>
              <a:t>1</a:t>
            </a:r>
            <a:endParaRPr lang="zh-CN" altLang="en-US" sz="6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40" name="Rectangle"/>
          <p:cNvSpPr>
            <a:spLocks/>
          </p:cNvSpPr>
          <p:nvPr/>
        </p:nvSpPr>
        <p:spPr>
          <a:xfrm rot="0">
            <a:off x="685800" y="5648325"/>
            <a:ext cx="4762499" cy="3238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endParaRPr lang="zh-CN" altLang="en-US" sz="1350" b="1" i="0" u="none" strike="noStrike" kern="1200" cap="none" spc="0" baseline="0">
              <a:solidFill>
                <a:srgbClr val="FFFFFF"/>
              </a:solidFill>
              <a:latin typeface="Calibri" pitchFamily="0" charset="0"/>
              <a:ea typeface="Calibri" pitchFamily="0" charset="0"/>
              <a:cs typeface="Calibri" pitchFamily="0" charset="0"/>
            </a:endParaRPr>
          </a:p>
        </p:txBody>
      </p:sp>
      <p:sp>
        <p:nvSpPr>
          <p:cNvPr id="41"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FFFFFF"/>
                </a:solidFill>
                <a:latin typeface="Calibri" pitchFamily="0" charset="0"/>
                <a:ea typeface="Calibri" pitchFamily="0" charset="0"/>
                <a:cs typeface="Calibri" pitchFamily="0" charset="0"/>
              </a:rPr>
              <a:t>03</a:t>
            </a:r>
            <a:endParaRPr lang="zh-CN" altLang="en-US" sz="750" b="1" i="0" u="none" strike="noStrike" kern="1200" cap="none" spc="0" baseline="0">
              <a:solidFill>
                <a:srgbClr val="FFFFFF"/>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1697575694"/>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45" name="Rectangle"/>
          <p:cNvSpPr>
            <a:spLocks/>
          </p:cNvSpPr>
          <p:nvPr/>
        </p:nvSpPr>
        <p:spPr>
          <a:xfrm rot="0">
            <a:off x="609600" y="323849"/>
            <a:ext cx="314324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 · BUSINESS &amp; CUSTOMERS</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46"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The brand sells useful discoveries - not random products.</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47"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48" name="Rectangle"/>
          <p:cNvSpPr>
            <a:spLocks/>
          </p:cNvSpPr>
          <p:nvPr/>
        </p:nvSpPr>
        <p:spPr>
          <a:xfrm rot="0">
            <a:off x="685800" y="1628775"/>
            <a:ext cx="2381249" cy="2476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168FC7"/>
                </a:solidFill>
                <a:latin typeface="Calibri" pitchFamily="0" charset="0"/>
                <a:ea typeface="Calibri" pitchFamily="0" charset="0"/>
                <a:cs typeface="Calibri" pitchFamily="0" charset="0"/>
              </a:rPr>
              <a:t>Business model</a:t>
            </a:r>
            <a:endParaRPr lang="zh-CN" altLang="en-US" sz="12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49" name="Rectangle"/>
          <p:cNvSpPr>
            <a:spLocks/>
          </p:cNvSpPr>
          <p:nvPr/>
        </p:nvSpPr>
        <p:spPr>
          <a:xfrm rot="0">
            <a:off x="685800" y="1952625"/>
            <a:ext cx="4476750" cy="72389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102A43"/>
                </a:solidFill>
                <a:latin typeface="Calibri" pitchFamily="0" charset="0"/>
                <a:ea typeface="Calibri" pitchFamily="0" charset="0"/>
                <a:cs typeface="Calibri" pitchFamily="0" charset="0"/>
              </a:rPr>
              <a:t>Online retail store with products across fashion, home, wellness and kids’ needs.</a:t>
            </a:r>
            <a:endParaRPr lang="zh-CN" altLang="en-US" sz="18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50" name="Rectangle"/>
          <p:cNvSpPr>
            <a:spLocks/>
          </p:cNvSpPr>
          <p:nvPr/>
        </p:nvSpPr>
        <p:spPr>
          <a:xfrm rot="0">
            <a:off x="685800" y="2905125"/>
            <a:ext cx="4476750" cy="8191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5D7184"/>
                </a:solidFill>
                <a:latin typeface="Calibri" pitchFamily="0" charset="0"/>
                <a:ea typeface="Calibri" pitchFamily="0" charset="0"/>
                <a:cs typeface="Calibri" pitchFamily="0" charset="0"/>
              </a:rPr>
              <a:t>Customers buy when a product either solves a daily problem or feels worth discovering.</a:t>
            </a:r>
            <a:endParaRPr lang="zh-CN" altLang="en-US" sz="1500" b="0" i="0" u="none" strike="noStrike" kern="1200" cap="none" spc="0" baseline="0">
              <a:solidFill>
                <a:srgbClr val="5D7184"/>
              </a:solidFill>
              <a:latin typeface="Calibri" pitchFamily="0" charset="0"/>
              <a:ea typeface="Calibri" pitchFamily="0" charset="0"/>
              <a:cs typeface="Calibri" pitchFamily="0" charset="0"/>
            </a:endParaRPr>
          </a:p>
        </p:txBody>
      </p:sp>
      <p:sp>
        <p:nvSpPr>
          <p:cNvPr id="51" name="Rounded rectangle"/>
          <p:cNvSpPr>
            <a:spLocks/>
          </p:cNvSpPr>
          <p:nvPr/>
        </p:nvSpPr>
        <p:spPr>
          <a:xfrm rot="0">
            <a:off x="5715000" y="1638300"/>
            <a:ext cx="5429250" cy="3857625"/>
          </a:xfrm>
          <a:prstGeom prst="roundRect">
            <a:avLst>
              <a:gd name="adj" fmla="val 2962"/>
            </a:avLst>
          </a:prstGeom>
          <a:solidFill>
            <a:srgbClr val="F6F9FC"/>
          </a:solidFill>
          <a:ln w="9525" cmpd="sng" cap="flat">
            <a:solidFill>
              <a:srgbClr val="D6E4EC"/>
            </a:solidFill>
            <a:prstDash val="solid"/>
            <a:round/>
          </a:ln>
        </p:spPr>
      </p:sp>
      <p:sp>
        <p:nvSpPr>
          <p:cNvPr id="52" name="Rectangle"/>
          <p:cNvSpPr>
            <a:spLocks/>
          </p:cNvSpPr>
          <p:nvPr/>
        </p:nvSpPr>
        <p:spPr>
          <a:xfrm rot="0">
            <a:off x="6019799" y="1952625"/>
            <a:ext cx="857249" cy="3429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1" i="0" u="none" strike="noStrike" kern="1200" cap="none" spc="0" baseline="0">
                <a:solidFill>
                  <a:srgbClr val="F26B5B"/>
                </a:solidFill>
                <a:latin typeface="Calibri" pitchFamily="0" charset="0"/>
                <a:ea typeface="Calibri" pitchFamily="0" charset="0"/>
                <a:cs typeface="Calibri" pitchFamily="0" charset="0"/>
              </a:rPr>
              <a:t>16-30</a:t>
            </a:r>
            <a:endParaRPr lang="zh-CN" altLang="en-US" sz="1875" b="1" i="0" u="none" strike="noStrike" kern="1200" cap="none" spc="0" baseline="0">
              <a:solidFill>
                <a:srgbClr val="F26B5B"/>
              </a:solidFill>
              <a:latin typeface="Calibri" pitchFamily="0" charset="0"/>
              <a:ea typeface="Calibri" pitchFamily="0" charset="0"/>
              <a:cs typeface="Calibri" pitchFamily="0" charset="0"/>
            </a:endParaRPr>
          </a:p>
        </p:txBody>
      </p:sp>
      <p:sp>
        <p:nvSpPr>
          <p:cNvPr id="53" name="Rectangle"/>
          <p:cNvSpPr>
            <a:spLocks/>
          </p:cNvSpPr>
          <p:nvPr/>
        </p:nvSpPr>
        <p:spPr>
          <a:xfrm rot="0">
            <a:off x="7048500" y="1914525"/>
            <a:ext cx="3429000" cy="304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75" b="1" i="0" u="none" strike="noStrike" kern="1200" cap="none" spc="0" baseline="0">
                <a:solidFill>
                  <a:srgbClr val="102A43"/>
                </a:solidFill>
                <a:latin typeface="Calibri" pitchFamily="0" charset="0"/>
                <a:ea typeface="Calibri" pitchFamily="0" charset="0"/>
                <a:cs typeface="Calibri" pitchFamily="0" charset="0"/>
              </a:rPr>
              <a:t>Trend-led buyers</a:t>
            </a:r>
            <a:endParaRPr lang="zh-CN" altLang="en-US" sz="15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54" name="Rectangle"/>
          <p:cNvSpPr>
            <a:spLocks/>
          </p:cNvSpPr>
          <p:nvPr/>
        </p:nvSpPr>
        <p:spPr>
          <a:xfrm rot="0">
            <a:off x="7048500" y="2247900"/>
            <a:ext cx="3429000" cy="304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0" i="0" u="none" strike="noStrike" kern="1200" cap="none" spc="0" baseline="0">
                <a:solidFill>
                  <a:srgbClr val="5D7184"/>
                </a:solidFill>
                <a:latin typeface="Calibri" pitchFamily="0" charset="0"/>
                <a:ea typeface="Calibri" pitchFamily="0" charset="0"/>
                <a:cs typeface="Calibri" pitchFamily="0" charset="0"/>
              </a:rPr>
              <a:t>Watches, jewelry, useful gadgets</a:t>
            </a:r>
            <a:endParaRPr lang="zh-CN" altLang="en-US" sz="1275" b="0" i="0" u="none" strike="noStrike" kern="1200" cap="none" spc="0" baseline="0">
              <a:solidFill>
                <a:srgbClr val="5D7184"/>
              </a:solidFill>
              <a:latin typeface="Calibri" pitchFamily="0" charset="0"/>
              <a:ea typeface="Calibri" pitchFamily="0" charset="0"/>
              <a:cs typeface="Calibri" pitchFamily="0" charset="0"/>
            </a:endParaRPr>
          </a:p>
        </p:txBody>
      </p:sp>
      <p:sp>
        <p:nvSpPr>
          <p:cNvPr id="55" name="Rounded rectangle"/>
          <p:cNvSpPr>
            <a:spLocks/>
          </p:cNvSpPr>
          <p:nvPr/>
        </p:nvSpPr>
        <p:spPr>
          <a:xfrm rot="0">
            <a:off x="6019799" y="2790824"/>
            <a:ext cx="4762500" cy="19050"/>
          </a:xfrm>
          <a:prstGeom prst="roundRect">
            <a:avLst>
              <a:gd name="adj" fmla="val 50000"/>
            </a:avLst>
          </a:prstGeom>
          <a:solidFill>
            <a:srgbClr val="D6E4EC"/>
          </a:solidFill>
          <a:ln w="9525" cmpd="sng" cap="flat">
            <a:solidFill>
              <a:srgbClr val="D6E4EC"/>
            </a:solidFill>
            <a:prstDash val="solid"/>
            <a:round/>
          </a:ln>
        </p:spPr>
      </p:sp>
      <p:sp>
        <p:nvSpPr>
          <p:cNvPr id="56" name="Rectangle"/>
          <p:cNvSpPr>
            <a:spLocks/>
          </p:cNvSpPr>
          <p:nvPr/>
        </p:nvSpPr>
        <p:spPr>
          <a:xfrm rot="0">
            <a:off x="6019799" y="3019425"/>
            <a:ext cx="857249" cy="3429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1" i="0" u="none" strike="noStrike" kern="1200" cap="none" spc="0" baseline="0">
                <a:solidFill>
                  <a:srgbClr val="F26B5B"/>
                </a:solidFill>
                <a:latin typeface="Calibri" pitchFamily="0" charset="0"/>
                <a:ea typeface="Calibri" pitchFamily="0" charset="0"/>
                <a:cs typeface="Calibri" pitchFamily="0" charset="0"/>
              </a:rPr>
              <a:t>25-45</a:t>
            </a:r>
            <a:endParaRPr lang="zh-CN" altLang="en-US" sz="1875" b="1" i="0" u="none" strike="noStrike" kern="1200" cap="none" spc="0" baseline="0">
              <a:solidFill>
                <a:srgbClr val="F26B5B"/>
              </a:solidFill>
              <a:latin typeface="Calibri" pitchFamily="0" charset="0"/>
              <a:ea typeface="Calibri" pitchFamily="0" charset="0"/>
              <a:cs typeface="Calibri" pitchFamily="0" charset="0"/>
            </a:endParaRPr>
          </a:p>
        </p:txBody>
      </p:sp>
      <p:sp>
        <p:nvSpPr>
          <p:cNvPr id="57" name="Rectangle"/>
          <p:cNvSpPr>
            <a:spLocks/>
          </p:cNvSpPr>
          <p:nvPr/>
        </p:nvSpPr>
        <p:spPr>
          <a:xfrm rot="0">
            <a:off x="7048500" y="2981325"/>
            <a:ext cx="3429000" cy="304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75" b="1" i="0" u="none" strike="noStrike" kern="1200" cap="none" spc="0" baseline="0">
                <a:solidFill>
                  <a:srgbClr val="102A43"/>
                </a:solidFill>
                <a:latin typeface="Calibri" pitchFamily="0" charset="0"/>
                <a:ea typeface="Calibri" pitchFamily="0" charset="0"/>
                <a:cs typeface="Calibri" pitchFamily="0" charset="0"/>
              </a:rPr>
              <a:t>Home &amp; family shoppers</a:t>
            </a:r>
            <a:endParaRPr lang="zh-CN" altLang="en-US" sz="15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58" name="Rectangle"/>
          <p:cNvSpPr>
            <a:spLocks/>
          </p:cNvSpPr>
          <p:nvPr/>
        </p:nvSpPr>
        <p:spPr>
          <a:xfrm rot="0">
            <a:off x="7048500" y="3314700"/>
            <a:ext cx="3429000" cy="304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0" i="0" u="none" strike="noStrike" kern="1200" cap="none" spc="0" baseline="0">
                <a:solidFill>
                  <a:srgbClr val="5D7184"/>
                </a:solidFill>
                <a:latin typeface="Calibri" pitchFamily="0" charset="0"/>
                <a:ea typeface="Calibri" pitchFamily="0" charset="0"/>
                <a:cs typeface="Calibri" pitchFamily="0" charset="0"/>
              </a:rPr>
              <a:t>Organizers, cleaning tools, toys</a:t>
            </a:r>
            <a:endParaRPr lang="zh-CN" altLang="en-US" sz="1275" b="0" i="0" u="none" strike="noStrike" kern="1200" cap="none" spc="0" baseline="0">
              <a:solidFill>
                <a:srgbClr val="5D7184"/>
              </a:solidFill>
              <a:latin typeface="Calibri" pitchFamily="0" charset="0"/>
              <a:ea typeface="Calibri" pitchFamily="0" charset="0"/>
              <a:cs typeface="Calibri" pitchFamily="0" charset="0"/>
            </a:endParaRPr>
          </a:p>
        </p:txBody>
      </p:sp>
      <p:sp>
        <p:nvSpPr>
          <p:cNvPr id="59" name="Rounded rectangle"/>
          <p:cNvSpPr>
            <a:spLocks/>
          </p:cNvSpPr>
          <p:nvPr/>
        </p:nvSpPr>
        <p:spPr>
          <a:xfrm rot="0">
            <a:off x="6019799" y="3857625"/>
            <a:ext cx="4762500" cy="19050"/>
          </a:xfrm>
          <a:prstGeom prst="roundRect">
            <a:avLst>
              <a:gd name="adj" fmla="val 50000"/>
            </a:avLst>
          </a:prstGeom>
          <a:solidFill>
            <a:srgbClr val="D6E4EC"/>
          </a:solidFill>
          <a:ln w="9525" cmpd="sng" cap="flat">
            <a:solidFill>
              <a:srgbClr val="D6E4EC"/>
            </a:solidFill>
            <a:prstDash val="solid"/>
            <a:round/>
          </a:ln>
        </p:spPr>
      </p:sp>
      <p:sp>
        <p:nvSpPr>
          <p:cNvPr id="60" name="Rectangle"/>
          <p:cNvSpPr>
            <a:spLocks/>
          </p:cNvSpPr>
          <p:nvPr/>
        </p:nvSpPr>
        <p:spPr>
          <a:xfrm rot="0">
            <a:off x="6019799" y="4086225"/>
            <a:ext cx="857249" cy="3429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1" i="0" u="none" strike="noStrike" kern="1200" cap="none" spc="0" baseline="0">
                <a:solidFill>
                  <a:srgbClr val="F26B5B"/>
                </a:solidFill>
                <a:latin typeface="Calibri" pitchFamily="0" charset="0"/>
                <a:ea typeface="Calibri" pitchFamily="0" charset="0"/>
                <a:cs typeface="Calibri" pitchFamily="0" charset="0"/>
              </a:rPr>
              <a:t>30-55</a:t>
            </a:r>
            <a:endParaRPr lang="zh-CN" altLang="en-US" sz="1875" b="1" i="0" u="none" strike="noStrike" kern="1200" cap="none" spc="0" baseline="0">
              <a:solidFill>
                <a:srgbClr val="F26B5B"/>
              </a:solidFill>
              <a:latin typeface="Calibri" pitchFamily="0" charset="0"/>
              <a:ea typeface="Calibri" pitchFamily="0" charset="0"/>
              <a:cs typeface="Calibri" pitchFamily="0" charset="0"/>
            </a:endParaRPr>
          </a:p>
        </p:txBody>
      </p:sp>
      <p:sp>
        <p:nvSpPr>
          <p:cNvPr id="61" name="Rectangle"/>
          <p:cNvSpPr>
            <a:spLocks/>
          </p:cNvSpPr>
          <p:nvPr/>
        </p:nvSpPr>
        <p:spPr>
          <a:xfrm rot="0">
            <a:off x="7048500" y="4048124"/>
            <a:ext cx="3429000" cy="304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75" b="1" i="0" u="none" strike="noStrike" kern="1200" cap="none" spc="0" baseline="0">
                <a:solidFill>
                  <a:srgbClr val="102A43"/>
                </a:solidFill>
                <a:latin typeface="Calibri" pitchFamily="0" charset="0"/>
                <a:ea typeface="Calibri" pitchFamily="0" charset="0"/>
                <a:cs typeface="Calibri" pitchFamily="0" charset="0"/>
              </a:rPr>
              <a:t>Comfort seekers</a:t>
            </a:r>
            <a:endParaRPr lang="zh-CN" altLang="en-US" sz="15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62" name="Rectangle"/>
          <p:cNvSpPr>
            <a:spLocks/>
          </p:cNvSpPr>
          <p:nvPr/>
        </p:nvSpPr>
        <p:spPr>
          <a:xfrm rot="0">
            <a:off x="7048500" y="4381500"/>
            <a:ext cx="3429000" cy="304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0" i="0" u="none" strike="noStrike" kern="1200" cap="none" spc="0" baseline="0">
                <a:solidFill>
                  <a:srgbClr val="5D7184"/>
                </a:solidFill>
                <a:latin typeface="Calibri" pitchFamily="0" charset="0"/>
                <a:ea typeface="Calibri" pitchFamily="0" charset="0"/>
                <a:cs typeface="Calibri" pitchFamily="0" charset="0"/>
              </a:rPr>
              <a:t>Massagers and back-support products</a:t>
            </a:r>
            <a:endParaRPr lang="zh-CN" altLang="en-US" sz="1275" b="0" i="0" u="none" strike="noStrike" kern="1200" cap="none" spc="0" baseline="0">
              <a:solidFill>
                <a:srgbClr val="5D7184"/>
              </a:solidFill>
              <a:latin typeface="Calibri" pitchFamily="0" charset="0"/>
              <a:ea typeface="Calibri" pitchFamily="0" charset="0"/>
              <a:cs typeface="Calibri" pitchFamily="0" charset="0"/>
            </a:endParaRPr>
          </a:p>
        </p:txBody>
      </p:sp>
      <p:sp>
        <p:nvSpPr>
          <p:cNvPr id="63" name="Rectangle"/>
          <p:cNvSpPr>
            <a:spLocks/>
          </p:cNvSpPr>
          <p:nvPr/>
        </p:nvSpPr>
        <p:spPr>
          <a:xfrm rot="0">
            <a:off x="609600" y="6515100"/>
            <a:ext cx="4762499" cy="1714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750" b="0" i="0" u="none" strike="noStrike" kern="1200" cap="none" spc="0" baseline="0">
                <a:solidFill>
                  <a:srgbClr val="5D7184"/>
                </a:solidFill>
                <a:latin typeface="Calibri" pitchFamily="0" charset="0"/>
                <a:ea typeface="Calibri" pitchFamily="0" charset="0"/>
                <a:cs typeface="Calibri" pitchFamily="0" charset="0"/>
              </a:rPr>
              <a:t>Rhombix internship · Digital Marketing &amp; Freelancing</a:t>
            </a:r>
            <a:endParaRPr lang="zh-CN" altLang="en-US" sz="750" b="0" i="0" u="none" strike="noStrike" kern="1200" cap="none" spc="0" baseline="0">
              <a:solidFill>
                <a:srgbClr val="5D7184"/>
              </a:solidFill>
              <a:latin typeface="Calibri" pitchFamily="0" charset="0"/>
              <a:ea typeface="Calibri" pitchFamily="0" charset="0"/>
              <a:cs typeface="Calibri" pitchFamily="0" charset="0"/>
            </a:endParaRPr>
          </a:p>
        </p:txBody>
      </p:sp>
      <p:sp>
        <p:nvSpPr>
          <p:cNvPr id="64"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04</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2096959312"/>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68" name="Rectangle"/>
          <p:cNvSpPr>
            <a:spLocks/>
          </p:cNvSpPr>
          <p:nvPr/>
        </p:nvSpPr>
        <p:spPr>
          <a:xfrm rot="0">
            <a:off x="609600" y="323849"/>
            <a:ext cx="314324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 COMPETITOR ANALYSIS</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69"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Productify can compete through curation and demonstration.</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70"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71" name="Rectangle"/>
          <p:cNvSpPr>
            <a:spLocks/>
          </p:cNvSpPr>
          <p:nvPr/>
        </p:nvSpPr>
        <p:spPr>
          <a:xfrm rot="0">
            <a:off x="762000" y="1676400"/>
            <a:ext cx="247650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25" b="1" i="0" u="none" strike="noStrike" kern="1200" cap="none" spc="0" baseline="0">
                <a:solidFill>
                  <a:srgbClr val="168FC7"/>
                </a:solidFill>
                <a:latin typeface="Calibri" pitchFamily="0" charset="0"/>
                <a:ea typeface="Calibri" pitchFamily="0" charset="0"/>
                <a:cs typeface="Calibri" pitchFamily="0" charset="0"/>
              </a:rPr>
              <a:t>COMPETITOR</a:t>
            </a:r>
            <a:endParaRPr lang="zh-CN" altLang="en-US" sz="1125" b="1" i="0" u="none" strike="noStrike" kern="1200" cap="none" spc="0" baseline="0">
              <a:solidFill>
                <a:srgbClr val="168FC7"/>
              </a:solidFill>
              <a:latin typeface="Calibri" pitchFamily="0" charset="0"/>
              <a:ea typeface="Calibri" pitchFamily="0" charset="0"/>
              <a:cs typeface="Calibri" pitchFamily="0" charset="0"/>
            </a:endParaRPr>
          </a:p>
        </p:txBody>
      </p:sp>
      <p:sp>
        <p:nvSpPr>
          <p:cNvPr id="72" name="Rectangle"/>
          <p:cNvSpPr>
            <a:spLocks/>
          </p:cNvSpPr>
          <p:nvPr/>
        </p:nvSpPr>
        <p:spPr>
          <a:xfrm rot="0">
            <a:off x="3810000" y="1676400"/>
            <a:ext cx="314324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25" b="1" i="0" u="none" strike="noStrike" kern="1200" cap="none" spc="0" baseline="0">
                <a:solidFill>
                  <a:srgbClr val="168FC7"/>
                </a:solidFill>
                <a:latin typeface="Calibri" pitchFamily="0" charset="0"/>
                <a:ea typeface="Calibri" pitchFamily="0" charset="0"/>
                <a:cs typeface="Calibri" pitchFamily="0" charset="0"/>
              </a:rPr>
              <a:t>WHAT THEY DO WELL</a:t>
            </a:r>
            <a:endParaRPr lang="zh-CN" altLang="en-US" sz="1125" b="1" i="0" u="none" strike="noStrike" kern="1200" cap="none" spc="0" baseline="0">
              <a:solidFill>
                <a:srgbClr val="168FC7"/>
              </a:solidFill>
              <a:latin typeface="Calibri" pitchFamily="0" charset="0"/>
              <a:ea typeface="Calibri" pitchFamily="0" charset="0"/>
              <a:cs typeface="Calibri" pitchFamily="0" charset="0"/>
            </a:endParaRPr>
          </a:p>
        </p:txBody>
      </p:sp>
      <p:sp>
        <p:nvSpPr>
          <p:cNvPr id="73" name="Rectangle"/>
          <p:cNvSpPr>
            <a:spLocks/>
          </p:cNvSpPr>
          <p:nvPr/>
        </p:nvSpPr>
        <p:spPr>
          <a:xfrm rot="0">
            <a:off x="7762875" y="1676400"/>
            <a:ext cx="323849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25" b="1" i="0" u="none" strike="noStrike" kern="1200" cap="none" spc="0" baseline="0">
                <a:solidFill>
                  <a:srgbClr val="168FC7"/>
                </a:solidFill>
                <a:latin typeface="Calibri" pitchFamily="0" charset="0"/>
                <a:ea typeface="Calibri" pitchFamily="0" charset="0"/>
                <a:cs typeface="Calibri" pitchFamily="0" charset="0"/>
              </a:rPr>
              <a:t>OUR RESPONSE</a:t>
            </a:r>
            <a:endParaRPr lang="zh-CN" altLang="en-US" sz="1125" b="1" i="0" u="none" strike="noStrike" kern="1200" cap="none" spc="0" baseline="0">
              <a:solidFill>
                <a:srgbClr val="168FC7"/>
              </a:solidFill>
              <a:latin typeface="Calibri" pitchFamily="0" charset="0"/>
              <a:ea typeface="Calibri" pitchFamily="0" charset="0"/>
              <a:cs typeface="Calibri" pitchFamily="0" charset="0"/>
            </a:endParaRPr>
          </a:p>
        </p:txBody>
      </p:sp>
      <p:sp>
        <p:nvSpPr>
          <p:cNvPr id="74" name="Rounded rectangle"/>
          <p:cNvSpPr>
            <a:spLocks/>
          </p:cNvSpPr>
          <p:nvPr/>
        </p:nvSpPr>
        <p:spPr>
          <a:xfrm rot="0">
            <a:off x="647699" y="2038350"/>
            <a:ext cx="10668000" cy="876300"/>
          </a:xfrm>
          <a:prstGeom prst="roundRect">
            <a:avLst>
              <a:gd name="adj" fmla="val 13041"/>
            </a:avLst>
          </a:prstGeom>
          <a:solidFill>
            <a:srgbClr val="F6F9FC"/>
          </a:solidFill>
          <a:ln w="9525" cmpd="sng" cap="flat">
            <a:solidFill>
              <a:srgbClr val="F6F9FC"/>
            </a:solidFill>
            <a:prstDash val="solid"/>
            <a:round/>
          </a:ln>
        </p:spPr>
      </p:sp>
      <p:sp>
        <p:nvSpPr>
          <p:cNvPr id="75" name="Rectangle"/>
          <p:cNvSpPr>
            <a:spLocks/>
          </p:cNvSpPr>
          <p:nvPr/>
        </p:nvSpPr>
        <p:spPr>
          <a:xfrm rot="0">
            <a:off x="762000" y="2152650"/>
            <a:ext cx="2571750" cy="4762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75" b="1" i="0" u="none" strike="noStrike" kern="1200" cap="none" spc="0" baseline="0">
                <a:solidFill>
                  <a:srgbClr val="102A43"/>
                </a:solidFill>
                <a:latin typeface="Calibri" pitchFamily="0" charset="0"/>
                <a:ea typeface="Calibri" pitchFamily="0" charset="0"/>
                <a:cs typeface="Calibri" pitchFamily="0" charset="0"/>
              </a:rPr>
              <a:t>Daraz</a:t>
            </a:r>
            <a:endParaRPr lang="zh-CN" altLang="en-US" sz="15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76" name="Rectangle"/>
          <p:cNvSpPr>
            <a:spLocks/>
          </p:cNvSpPr>
          <p:nvPr/>
        </p:nvSpPr>
        <p:spPr>
          <a:xfrm rot="0">
            <a:off x="3810000" y="2152650"/>
            <a:ext cx="3143249" cy="5715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Huge selection, price comparison and visible buyer reviews</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77" name="Rectangle"/>
          <p:cNvSpPr>
            <a:spLocks/>
          </p:cNvSpPr>
          <p:nvPr/>
        </p:nvSpPr>
        <p:spPr>
          <a:xfrm rot="0">
            <a:off x="7762875" y="2152650"/>
            <a:ext cx="3238499" cy="5715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Curate fewer useful products and explain them better</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78" name="Rectangle"/>
          <p:cNvSpPr>
            <a:spLocks/>
          </p:cNvSpPr>
          <p:nvPr/>
        </p:nvSpPr>
        <p:spPr>
          <a:xfrm rot="0">
            <a:off x="762000" y="3219450"/>
            <a:ext cx="2571750" cy="4762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75" b="1" i="0" u="none" strike="noStrike" kern="1200" cap="none" spc="0" baseline="0">
                <a:solidFill>
                  <a:srgbClr val="102A43"/>
                </a:solidFill>
                <a:latin typeface="Calibri" pitchFamily="0" charset="0"/>
                <a:ea typeface="Calibri" pitchFamily="0" charset="0"/>
                <a:cs typeface="Calibri" pitchFamily="0" charset="0"/>
              </a:rPr>
              <a:t>HamzaStore.pk</a:t>
            </a:r>
            <a:endParaRPr lang="zh-CN" altLang="en-US" sz="15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79" name="Rectangle"/>
          <p:cNvSpPr>
            <a:spLocks/>
          </p:cNvSpPr>
          <p:nvPr/>
        </p:nvSpPr>
        <p:spPr>
          <a:xfrm rot="0">
            <a:off x="3810000" y="3219450"/>
            <a:ext cx="3143249" cy="5715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Clear categories across gadgets, home, fashion and toys</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80" name="Rectangle"/>
          <p:cNvSpPr>
            <a:spLocks/>
          </p:cNvSpPr>
          <p:nvPr/>
        </p:nvSpPr>
        <p:spPr>
          <a:xfrm rot="0">
            <a:off x="7762875" y="3219450"/>
            <a:ext cx="3238499" cy="5715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Use relatable short demos and personal support</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81" name="Rounded rectangle"/>
          <p:cNvSpPr>
            <a:spLocks/>
          </p:cNvSpPr>
          <p:nvPr/>
        </p:nvSpPr>
        <p:spPr>
          <a:xfrm rot="0">
            <a:off x="647699" y="4171949"/>
            <a:ext cx="10668000" cy="876300"/>
          </a:xfrm>
          <a:prstGeom prst="roundRect">
            <a:avLst>
              <a:gd name="adj" fmla="val 13041"/>
            </a:avLst>
          </a:prstGeom>
          <a:solidFill>
            <a:srgbClr val="F6F9FC"/>
          </a:solidFill>
          <a:ln w="9525" cmpd="sng" cap="flat">
            <a:solidFill>
              <a:srgbClr val="F6F9FC"/>
            </a:solidFill>
            <a:prstDash val="solid"/>
            <a:round/>
          </a:ln>
        </p:spPr>
      </p:sp>
      <p:sp>
        <p:nvSpPr>
          <p:cNvPr id="82" name="Rectangle"/>
          <p:cNvSpPr>
            <a:spLocks/>
          </p:cNvSpPr>
          <p:nvPr/>
        </p:nvSpPr>
        <p:spPr>
          <a:xfrm rot="0">
            <a:off x="762000" y="4286250"/>
            <a:ext cx="2571750" cy="4762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75" b="1" i="0" u="none" strike="noStrike" kern="1200" cap="none" spc="0" baseline="0">
                <a:solidFill>
                  <a:srgbClr val="102A43"/>
                </a:solidFill>
                <a:latin typeface="Calibri" pitchFamily="0" charset="0"/>
                <a:ea typeface="Calibri" pitchFamily="0" charset="0"/>
                <a:cs typeface="Calibri" pitchFamily="0" charset="0"/>
              </a:rPr>
              <a:t>Social resellers</a:t>
            </a:r>
            <a:endParaRPr lang="zh-CN" altLang="en-US" sz="15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83" name="Rectangle"/>
          <p:cNvSpPr>
            <a:spLocks/>
          </p:cNvSpPr>
          <p:nvPr/>
        </p:nvSpPr>
        <p:spPr>
          <a:xfrm rot="0">
            <a:off x="3810000" y="4286250"/>
            <a:ext cx="3143249" cy="5715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Fast trend adoption and aggressive pricing</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84" name="Rectangle"/>
          <p:cNvSpPr>
            <a:spLocks/>
          </p:cNvSpPr>
          <p:nvPr/>
        </p:nvSpPr>
        <p:spPr>
          <a:xfrm rot="0">
            <a:off x="7762875" y="4286250"/>
            <a:ext cx="3238499" cy="5715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Build trust through proof, delivery clarity and consistency</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85" name="Rounded rectangle"/>
          <p:cNvSpPr>
            <a:spLocks/>
          </p:cNvSpPr>
          <p:nvPr/>
        </p:nvSpPr>
        <p:spPr>
          <a:xfrm rot="0">
            <a:off x="685800" y="5476875"/>
            <a:ext cx="10572750" cy="590549"/>
          </a:xfrm>
          <a:prstGeom prst="roundRect">
            <a:avLst>
              <a:gd name="adj" fmla="val 19356"/>
            </a:avLst>
          </a:prstGeom>
          <a:solidFill>
            <a:srgbClr val="EAF6FB"/>
          </a:solidFill>
          <a:ln w="9525" cmpd="sng" cap="flat">
            <a:solidFill>
              <a:srgbClr val="EAF6FB"/>
            </a:solidFill>
            <a:prstDash val="solid"/>
            <a:round/>
          </a:ln>
        </p:spPr>
      </p:sp>
      <p:sp>
        <p:nvSpPr>
          <p:cNvPr id="86" name="Rectangle"/>
          <p:cNvSpPr>
            <a:spLocks/>
          </p:cNvSpPr>
          <p:nvPr/>
        </p:nvSpPr>
        <p:spPr>
          <a:xfrm rot="0">
            <a:off x="914400" y="5619750"/>
            <a:ext cx="10096500" cy="323849"/>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650" b="1" i="0" u="none" strike="noStrike" kern="1200" cap="none" spc="0" baseline="0">
                <a:solidFill>
                  <a:srgbClr val="102A43"/>
                </a:solidFill>
                <a:latin typeface="Calibri" pitchFamily="0" charset="0"/>
                <a:ea typeface="Calibri" pitchFamily="0" charset="0"/>
                <a:cs typeface="Calibri" pitchFamily="0" charset="0"/>
              </a:rPr>
              <a:t>Positioning: Useful products, honestly demonstrated, with an easy buying experience.</a:t>
            </a:r>
            <a:endParaRPr lang="zh-CN" altLang="en-US" sz="1650" b="1" i="0" u="none" strike="noStrike" kern="1200" cap="none" spc="0" baseline="0">
              <a:solidFill>
                <a:srgbClr val="102A43"/>
              </a:solidFill>
              <a:latin typeface="Calibri" pitchFamily="0" charset="0"/>
              <a:ea typeface="Calibri" pitchFamily="0" charset="0"/>
              <a:cs typeface="Calibri" pitchFamily="0" charset="0"/>
            </a:endParaRPr>
          </a:p>
        </p:txBody>
      </p:sp>
      <p:sp>
        <p:nvSpPr>
          <p:cNvPr id="87" name="Rectangle"/>
          <p:cNvSpPr>
            <a:spLocks/>
          </p:cNvSpPr>
          <p:nvPr/>
        </p:nvSpPr>
        <p:spPr>
          <a:xfrm rot="0">
            <a:off x="609600" y="6515100"/>
            <a:ext cx="4762499" cy="1714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endParaRPr lang="zh-CN" altLang="en-US" sz="750" b="0" i="0" u="none" strike="noStrike" kern="1200" cap="none" spc="0" baseline="0">
              <a:solidFill>
                <a:srgbClr val="5D7184"/>
              </a:solidFill>
              <a:latin typeface="Calibri" pitchFamily="0" charset="0"/>
              <a:ea typeface="Calibri" pitchFamily="0" charset="0"/>
              <a:cs typeface="Calibri" pitchFamily="0" charset="0"/>
            </a:endParaRPr>
          </a:p>
        </p:txBody>
      </p:sp>
      <p:sp>
        <p:nvSpPr>
          <p:cNvPr id="88"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05</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317695810"/>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92" name="Rectangle"/>
          <p:cNvSpPr>
            <a:spLocks/>
          </p:cNvSpPr>
          <p:nvPr/>
        </p:nvSpPr>
        <p:spPr>
          <a:xfrm rot="0">
            <a:off x="609600" y="323849"/>
            <a:ext cx="314324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 OVERALL GOAL</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93"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The plan is designed around one measurable result.</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94"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95" name="Rounded rectangle"/>
          <p:cNvSpPr>
            <a:spLocks/>
          </p:cNvSpPr>
          <p:nvPr/>
        </p:nvSpPr>
        <p:spPr>
          <a:xfrm rot="0">
            <a:off x="742949" y="1714500"/>
            <a:ext cx="10706100" cy="1695449"/>
          </a:xfrm>
          <a:prstGeom prst="roundRect">
            <a:avLst>
              <a:gd name="adj" fmla="val 6740"/>
            </a:avLst>
          </a:prstGeom>
          <a:solidFill>
            <a:srgbClr val="102A43"/>
          </a:solidFill>
          <a:ln w="9525" cmpd="sng" cap="flat">
            <a:solidFill>
              <a:srgbClr val="102A43"/>
            </a:solidFill>
            <a:prstDash val="solid"/>
            <a:round/>
          </a:ln>
        </p:spPr>
      </p:sp>
      <p:sp>
        <p:nvSpPr>
          <p:cNvPr id="96" name="Rectangle"/>
          <p:cNvSpPr>
            <a:spLocks/>
          </p:cNvSpPr>
          <p:nvPr/>
        </p:nvSpPr>
        <p:spPr>
          <a:xfrm rot="0">
            <a:off x="1028700" y="1981200"/>
            <a:ext cx="2381249" cy="2476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25" b="1" i="0" u="none" strike="noStrike" kern="1200" cap="none" spc="0" baseline="0">
                <a:solidFill>
                  <a:srgbClr val="9EDBF0"/>
                </a:solidFill>
                <a:latin typeface="Calibri" pitchFamily="0" charset="0"/>
                <a:ea typeface="Calibri" pitchFamily="0" charset="0"/>
                <a:cs typeface="Calibri" pitchFamily="0" charset="0"/>
              </a:rPr>
              <a:t>PRIMARY GOAL</a:t>
            </a:r>
            <a:endParaRPr lang="zh-CN" altLang="en-US" sz="1125" b="1" i="0" u="none" strike="noStrike" kern="1200" cap="none" spc="0" baseline="0">
              <a:solidFill>
                <a:srgbClr val="9EDBF0"/>
              </a:solidFill>
              <a:latin typeface="Calibri" pitchFamily="0" charset="0"/>
              <a:ea typeface="Calibri" pitchFamily="0" charset="0"/>
              <a:cs typeface="Calibri" pitchFamily="0" charset="0"/>
            </a:endParaRPr>
          </a:p>
        </p:txBody>
      </p:sp>
      <p:sp>
        <p:nvSpPr>
          <p:cNvPr id="97" name="Rectangle"/>
          <p:cNvSpPr>
            <a:spLocks/>
          </p:cNvSpPr>
          <p:nvPr/>
        </p:nvSpPr>
        <p:spPr>
          <a:xfrm rot="0">
            <a:off x="1028700" y="2333625"/>
            <a:ext cx="8477250" cy="5524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925" b="1" i="0" u="none" strike="noStrike" kern="1200" cap="none" spc="0" baseline="0">
                <a:solidFill>
                  <a:srgbClr val="FFFFFF"/>
                </a:solidFill>
                <a:latin typeface="Calibri" pitchFamily="0" charset="0"/>
                <a:ea typeface="Calibri" pitchFamily="0" charset="0"/>
                <a:cs typeface="Calibri" pitchFamily="0" charset="0"/>
              </a:rPr>
              <a:t>Increase completed direct orders</a:t>
            </a:r>
            <a:endParaRPr lang="zh-CN" altLang="en-US" sz="2925" b="1" i="0" u="none" strike="noStrike" kern="1200" cap="none" spc="0" baseline="0">
              <a:solidFill>
                <a:srgbClr val="FFFFFF"/>
              </a:solidFill>
              <a:latin typeface="Calibri" pitchFamily="0" charset="0"/>
              <a:ea typeface="Calibri" pitchFamily="0" charset="0"/>
              <a:cs typeface="Calibri" pitchFamily="0" charset="0"/>
            </a:endParaRPr>
          </a:p>
        </p:txBody>
      </p:sp>
      <p:sp>
        <p:nvSpPr>
          <p:cNvPr id="98" name="Rectangle"/>
          <p:cNvSpPr>
            <a:spLocks/>
          </p:cNvSpPr>
          <p:nvPr/>
        </p:nvSpPr>
        <p:spPr>
          <a:xfrm rot="0">
            <a:off x="1028700" y="2962275"/>
            <a:ext cx="6096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DDEAF2"/>
                </a:solidFill>
                <a:latin typeface="Calibri" pitchFamily="0" charset="0"/>
                <a:ea typeface="Calibri" pitchFamily="0" charset="0"/>
                <a:cs typeface="Calibri" pitchFamily="0" charset="0"/>
              </a:rPr>
              <a:t>Not followers. Not views alone. Sales.</a:t>
            </a:r>
            <a:endParaRPr lang="zh-CN" altLang="en-US" sz="1500" b="0" i="0" u="none" strike="noStrike" kern="1200" cap="none" spc="0" baseline="0">
              <a:solidFill>
                <a:srgbClr val="DDEAF2"/>
              </a:solidFill>
              <a:latin typeface="Calibri" pitchFamily="0" charset="0"/>
              <a:ea typeface="Calibri" pitchFamily="0" charset="0"/>
              <a:cs typeface="Calibri" pitchFamily="0" charset="0"/>
            </a:endParaRPr>
          </a:p>
        </p:txBody>
      </p:sp>
      <p:sp>
        <p:nvSpPr>
          <p:cNvPr id="99" name="Oval"/>
          <p:cNvSpPr>
            <a:spLocks/>
          </p:cNvSpPr>
          <p:nvPr/>
        </p:nvSpPr>
        <p:spPr>
          <a:xfrm rot="0">
            <a:off x="1066800" y="3962400"/>
            <a:ext cx="123825" cy="123824"/>
          </a:xfrm>
          <a:prstGeom prst="ellipse"/>
          <a:solidFill>
            <a:srgbClr val="F26B5B"/>
          </a:solidFill>
          <a:ln w="9525" cmpd="sng" cap="flat">
            <a:solidFill>
              <a:srgbClr val="F26B5B"/>
            </a:solidFill>
            <a:prstDash val="solid"/>
            <a:round/>
          </a:ln>
        </p:spPr>
      </p:sp>
      <p:sp>
        <p:nvSpPr>
          <p:cNvPr id="100" name="Rectangle"/>
          <p:cNvSpPr>
            <a:spLocks/>
          </p:cNvSpPr>
          <p:nvPr/>
        </p:nvSpPr>
        <p:spPr>
          <a:xfrm rot="0">
            <a:off x="1314450" y="3895725"/>
            <a:ext cx="9277350" cy="4000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183B56"/>
                </a:solidFill>
                <a:latin typeface="Calibri" pitchFamily="0" charset="0"/>
                <a:ea typeface="Calibri" pitchFamily="0" charset="0"/>
                <a:cs typeface="Calibri" pitchFamily="0" charset="0"/>
              </a:rPr>
              <a:t>Show products through short problem-solution content</a:t>
            </a:r>
            <a:endParaRPr lang="zh-CN" altLang="en-US" sz="150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01" name="Oval"/>
          <p:cNvSpPr>
            <a:spLocks/>
          </p:cNvSpPr>
          <p:nvPr/>
        </p:nvSpPr>
        <p:spPr>
          <a:xfrm rot="0">
            <a:off x="1066800" y="4591050"/>
            <a:ext cx="123825" cy="123824"/>
          </a:xfrm>
          <a:prstGeom prst="ellipse"/>
          <a:solidFill>
            <a:srgbClr val="F26B5B"/>
          </a:solidFill>
          <a:ln w="9525" cmpd="sng" cap="flat">
            <a:solidFill>
              <a:srgbClr val="F26B5B"/>
            </a:solidFill>
            <a:prstDash val="solid"/>
            <a:round/>
          </a:ln>
        </p:spPr>
      </p:sp>
      <p:sp>
        <p:nvSpPr>
          <p:cNvPr id="102" name="Rectangle"/>
          <p:cNvSpPr>
            <a:spLocks/>
          </p:cNvSpPr>
          <p:nvPr/>
        </p:nvSpPr>
        <p:spPr>
          <a:xfrm rot="0">
            <a:off x="1314450" y="4524375"/>
            <a:ext cx="9277350" cy="4000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183B56"/>
                </a:solidFill>
                <a:latin typeface="Calibri" pitchFamily="0" charset="0"/>
                <a:ea typeface="Calibri" pitchFamily="0" charset="0"/>
                <a:cs typeface="Calibri" pitchFamily="0" charset="0"/>
              </a:rPr>
              <a:t>Capture high-intent searches with category-based ads</a:t>
            </a:r>
            <a:endParaRPr lang="zh-CN" altLang="en-US" sz="150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03" name="Oval"/>
          <p:cNvSpPr>
            <a:spLocks/>
          </p:cNvSpPr>
          <p:nvPr/>
        </p:nvSpPr>
        <p:spPr>
          <a:xfrm rot="0">
            <a:off x="1066800" y="5219700"/>
            <a:ext cx="123825" cy="123824"/>
          </a:xfrm>
          <a:prstGeom prst="ellipse"/>
          <a:solidFill>
            <a:srgbClr val="F26B5B"/>
          </a:solidFill>
          <a:ln w="9525" cmpd="sng" cap="flat">
            <a:solidFill>
              <a:srgbClr val="F26B5B"/>
            </a:solidFill>
            <a:prstDash val="solid"/>
            <a:round/>
          </a:ln>
        </p:spPr>
      </p:sp>
      <p:sp>
        <p:nvSpPr>
          <p:cNvPr id="104" name="Rectangle"/>
          <p:cNvSpPr>
            <a:spLocks/>
          </p:cNvSpPr>
          <p:nvPr/>
        </p:nvSpPr>
        <p:spPr>
          <a:xfrm rot="0">
            <a:off x="1314450" y="5153025"/>
            <a:ext cx="9277350" cy="4000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0" i="0" u="none" strike="noStrike" kern="1200" cap="none" spc="0" baseline="0">
                <a:solidFill>
                  <a:srgbClr val="183B56"/>
                </a:solidFill>
                <a:latin typeface="Calibri" pitchFamily="0" charset="0"/>
                <a:ea typeface="Calibri" pitchFamily="0" charset="0"/>
                <a:cs typeface="Calibri" pitchFamily="0" charset="0"/>
              </a:rPr>
              <a:t>Build trust with product pages, reviews and delivery information</a:t>
            </a:r>
            <a:endParaRPr lang="zh-CN" altLang="en-US" sz="150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05" name="Rectangle"/>
          <p:cNvSpPr>
            <a:spLocks/>
          </p:cNvSpPr>
          <p:nvPr/>
        </p:nvSpPr>
        <p:spPr>
          <a:xfrm rot="0">
            <a:off x="609600" y="6515100"/>
            <a:ext cx="4762499" cy="1714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endParaRPr lang="zh-CN" altLang="en-US" sz="750" b="0" i="0" u="none" strike="noStrike" kern="1200" cap="none" spc="0" baseline="0">
              <a:solidFill>
                <a:srgbClr val="5D7184"/>
              </a:solidFill>
              <a:latin typeface="Calibri" pitchFamily="0" charset="0"/>
              <a:ea typeface="Calibri" pitchFamily="0" charset="0"/>
              <a:cs typeface="Calibri" pitchFamily="0" charset="0"/>
            </a:endParaRPr>
          </a:p>
        </p:txBody>
      </p:sp>
      <p:sp>
        <p:nvSpPr>
          <p:cNvPr id="106"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06</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453529219"/>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F26B5B"/>
        </a:solidFill>
      </p:bgPr>
    </p:bg>
    <p:spTree>
      <p:nvGrpSpPr>
        <p:cNvPr id="1" name=""/>
        <p:cNvGrpSpPr/>
        <p:nvPr/>
      </p:nvGrpSpPr>
      <p:grpSpPr>
        <a:xfrm>
          <a:off x="0" y="0"/>
          <a:ext cx="0" cy="0"/>
          <a:chOff x="0" y="0"/>
          <a:chExt cx="0" cy="0"/>
        </a:xfrm>
      </p:grpSpPr>
      <p:sp>
        <p:nvSpPr>
          <p:cNvPr id="111" name="Rectangle"/>
          <p:cNvSpPr>
            <a:spLocks/>
          </p:cNvSpPr>
          <p:nvPr/>
        </p:nvSpPr>
        <p:spPr>
          <a:xfrm rot="0">
            <a:off x="685800" y="1676400"/>
            <a:ext cx="7524750" cy="8572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750" b="1" i="0" u="none" strike="noStrike" kern="1200" cap="none" spc="0" baseline="0">
                <a:solidFill>
                  <a:srgbClr val="FFFFFF"/>
                </a:solidFill>
                <a:latin typeface="Calibri" pitchFamily="0" charset="0"/>
                <a:ea typeface="Calibri" pitchFamily="0" charset="0"/>
                <a:cs typeface="Calibri" pitchFamily="0" charset="0"/>
              </a:rPr>
              <a:t>Content &amp; Video Lead</a:t>
            </a:r>
            <a:endParaRPr lang="zh-CN" altLang="en-US" sz="3750" b="1" i="0" u="none" strike="noStrike" kern="1200" cap="none" spc="0" baseline="0">
              <a:solidFill>
                <a:srgbClr val="FFFFFF"/>
              </a:solidFill>
              <a:latin typeface="Calibri" pitchFamily="0" charset="0"/>
              <a:ea typeface="Calibri" pitchFamily="0" charset="0"/>
              <a:cs typeface="Calibri" pitchFamily="0" charset="0"/>
            </a:endParaRPr>
          </a:p>
        </p:txBody>
      </p:sp>
      <p:sp>
        <p:nvSpPr>
          <p:cNvPr id="112" name="Rectangle"/>
          <p:cNvSpPr>
            <a:spLocks/>
          </p:cNvSpPr>
          <p:nvPr/>
        </p:nvSpPr>
        <p:spPr>
          <a:xfrm rot="0">
            <a:off x="685800" y="2781300"/>
            <a:ext cx="6858000" cy="8382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0" i="0" u="none" strike="noStrike" kern="1200" cap="none" spc="0" baseline="0">
                <a:solidFill>
                  <a:srgbClr val="EAF6FB"/>
                </a:solidFill>
                <a:latin typeface="Calibri" pitchFamily="0" charset="0"/>
                <a:ea typeface="Calibri" pitchFamily="0" charset="0"/>
                <a:cs typeface="Calibri" pitchFamily="0" charset="0"/>
              </a:rPr>
              <a:t>Turns everyday product problems into content people want to watch - and buy from.</a:t>
            </a:r>
            <a:endParaRPr lang="zh-CN" altLang="en-US" sz="1875" b="0" i="0" u="none" strike="noStrike" kern="1200" cap="none" spc="0" baseline="0">
              <a:solidFill>
                <a:srgbClr val="EAF6FB"/>
              </a:solidFill>
              <a:latin typeface="Calibri" pitchFamily="0" charset="0"/>
              <a:ea typeface="Calibri" pitchFamily="0" charset="0"/>
              <a:cs typeface="Calibri" pitchFamily="0" charset="0"/>
            </a:endParaRPr>
          </a:p>
        </p:txBody>
      </p:sp>
      <p:sp>
        <p:nvSpPr>
          <p:cNvPr id="113" name="Oval"/>
          <p:cNvSpPr>
            <a:spLocks/>
          </p:cNvSpPr>
          <p:nvPr/>
        </p:nvSpPr>
        <p:spPr>
          <a:xfrm rot="0">
            <a:off x="8858250" y="1047750"/>
            <a:ext cx="2095499" cy="2095499"/>
          </a:xfrm>
          <a:prstGeom prst="ellipse"/>
          <a:solidFill>
            <a:srgbClr val="FFFFFF"/>
          </a:solidFill>
          <a:ln w="9525" cmpd="sng" cap="flat">
            <a:solidFill>
              <a:srgbClr val="FFFFFF"/>
            </a:solidFill>
            <a:prstDash val="solid"/>
            <a:round/>
          </a:ln>
        </p:spPr>
      </p:sp>
      <p:sp>
        <p:nvSpPr>
          <p:cNvPr id="114" name="Rectangle"/>
          <p:cNvSpPr>
            <a:spLocks/>
          </p:cNvSpPr>
          <p:nvPr/>
        </p:nvSpPr>
        <p:spPr>
          <a:xfrm rot="0">
            <a:off x="8858250" y="1047750"/>
            <a:ext cx="2095499" cy="2095499"/>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6900" b="1" i="0" u="none" strike="noStrike" kern="1200" cap="none" spc="0" baseline="0">
                <a:solidFill>
                  <a:srgbClr val="F26B5B"/>
                </a:solidFill>
                <a:latin typeface="Calibri" pitchFamily="0" charset="0"/>
                <a:ea typeface="Calibri" pitchFamily="0" charset="0"/>
                <a:cs typeface="Calibri" pitchFamily="0" charset="0"/>
              </a:rPr>
              <a:t>2</a:t>
            </a:r>
            <a:endParaRPr lang="zh-CN" altLang="en-US" sz="6900" b="1" i="0" u="none" strike="noStrike" kern="1200" cap="none" spc="0" baseline="0">
              <a:solidFill>
                <a:srgbClr val="F26B5B"/>
              </a:solidFill>
              <a:latin typeface="Calibri" pitchFamily="0" charset="0"/>
              <a:ea typeface="Calibri" pitchFamily="0" charset="0"/>
              <a:cs typeface="Calibri" pitchFamily="0" charset="0"/>
            </a:endParaRPr>
          </a:p>
        </p:txBody>
      </p:sp>
      <p:sp>
        <p:nvSpPr>
          <p:cNvPr id="116"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FFFFFF"/>
                </a:solidFill>
                <a:latin typeface="Calibri" pitchFamily="0" charset="0"/>
                <a:ea typeface="Calibri" pitchFamily="0" charset="0"/>
                <a:cs typeface="Calibri" pitchFamily="0" charset="0"/>
              </a:rPr>
              <a:t>07</a:t>
            </a:r>
            <a:endParaRPr lang="zh-CN" altLang="en-US" sz="750" b="1" i="0" u="none" strike="noStrike" kern="1200" cap="none" spc="0" baseline="0">
              <a:solidFill>
                <a:srgbClr val="FFFFFF"/>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414152538"/>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0" name="Rectangle"/>
          <p:cNvSpPr>
            <a:spLocks/>
          </p:cNvSpPr>
          <p:nvPr/>
        </p:nvSpPr>
        <p:spPr>
          <a:xfrm rot="0">
            <a:off x="609600" y="323849"/>
            <a:ext cx="314324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 VIDEO CONCEPT</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121"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One repeatable video format can sell the whole catalogue.</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22"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123" name="Rounded rectangle"/>
          <p:cNvSpPr>
            <a:spLocks/>
          </p:cNvSpPr>
          <p:nvPr/>
        </p:nvSpPr>
        <p:spPr>
          <a:xfrm rot="0">
            <a:off x="685800" y="1695450"/>
            <a:ext cx="4476750" cy="3905250"/>
          </a:xfrm>
          <a:prstGeom prst="roundRect">
            <a:avLst>
              <a:gd name="adj" fmla="val 2925"/>
            </a:avLst>
          </a:prstGeom>
          <a:solidFill>
            <a:srgbClr val="102A43"/>
          </a:solidFill>
          <a:ln w="9525" cmpd="sng" cap="flat">
            <a:solidFill>
              <a:srgbClr val="102A43"/>
            </a:solidFill>
            <a:prstDash val="solid"/>
            <a:round/>
          </a:ln>
        </p:spPr>
      </p:sp>
      <p:sp>
        <p:nvSpPr>
          <p:cNvPr id="124" name="Rectangle"/>
          <p:cNvSpPr>
            <a:spLocks/>
          </p:cNvSpPr>
          <p:nvPr/>
        </p:nvSpPr>
        <p:spPr>
          <a:xfrm rot="0">
            <a:off x="1000124" y="2009775"/>
            <a:ext cx="2476500"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050" b="1" i="0" u="none" strike="noStrike" kern="1200" cap="none" spc="0" baseline="0">
                <a:solidFill>
                  <a:srgbClr val="9EDBF0"/>
                </a:solidFill>
                <a:latin typeface="Calibri" pitchFamily="0" charset="0"/>
                <a:ea typeface="Calibri" pitchFamily="0" charset="0"/>
                <a:cs typeface="Calibri" pitchFamily="0" charset="0"/>
              </a:rPr>
              <a:t>WORKING TITLE</a:t>
            </a:r>
            <a:endParaRPr lang="zh-CN" altLang="en-US" sz="1050" b="1" i="0" u="none" strike="noStrike" kern="1200" cap="none" spc="0" baseline="0">
              <a:solidFill>
                <a:srgbClr val="9EDBF0"/>
              </a:solidFill>
              <a:latin typeface="Calibri" pitchFamily="0" charset="0"/>
              <a:ea typeface="Calibri" pitchFamily="0" charset="0"/>
              <a:cs typeface="Calibri" pitchFamily="0" charset="0"/>
            </a:endParaRPr>
          </a:p>
        </p:txBody>
      </p:sp>
      <p:sp>
        <p:nvSpPr>
          <p:cNvPr id="125" name="Rectangle"/>
          <p:cNvSpPr>
            <a:spLocks/>
          </p:cNvSpPr>
          <p:nvPr/>
        </p:nvSpPr>
        <p:spPr>
          <a:xfrm rot="0">
            <a:off x="1000124" y="2400300"/>
            <a:ext cx="3571875" cy="11430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550" b="1" i="0" u="none" strike="noStrike" kern="1200" cap="none" spc="0" baseline="0">
                <a:solidFill>
                  <a:srgbClr val="FFFFFF"/>
                </a:solidFill>
                <a:latin typeface="Calibri" pitchFamily="0" charset="0"/>
                <a:ea typeface="Calibri" pitchFamily="0" charset="0"/>
                <a:cs typeface="Calibri" pitchFamily="0" charset="0"/>
              </a:rPr>
              <a:t>5 Products That Make Everyday Life Easier</a:t>
            </a:r>
            <a:endParaRPr lang="zh-CN" altLang="en-US" sz="2550" b="1" i="0" u="none" strike="noStrike" kern="1200" cap="none" spc="0" baseline="0">
              <a:solidFill>
                <a:srgbClr val="FFFFFF"/>
              </a:solidFill>
              <a:latin typeface="Calibri" pitchFamily="0" charset="0"/>
              <a:ea typeface="Calibri" pitchFamily="0" charset="0"/>
              <a:cs typeface="Calibri" pitchFamily="0" charset="0"/>
            </a:endParaRPr>
          </a:p>
        </p:txBody>
      </p:sp>
      <p:sp>
        <p:nvSpPr>
          <p:cNvPr id="126" name="Rectangle"/>
          <p:cNvSpPr>
            <a:spLocks/>
          </p:cNvSpPr>
          <p:nvPr/>
        </p:nvSpPr>
        <p:spPr>
          <a:xfrm rot="0">
            <a:off x="1000124" y="3848100"/>
            <a:ext cx="3143249"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1" i="0" u="none" strike="noStrike" kern="1200" cap="none" spc="0" baseline="0">
                <a:solidFill>
                  <a:srgbClr val="DDEAF2"/>
                </a:solidFill>
                <a:latin typeface="Calibri" pitchFamily="0" charset="0"/>
                <a:ea typeface="Calibri" pitchFamily="0" charset="0"/>
                <a:cs typeface="Calibri" pitchFamily="0" charset="0"/>
              </a:rPr>
              <a:t>30-45 sec Reel / Short</a:t>
            </a:r>
            <a:endParaRPr lang="zh-CN" altLang="en-US" sz="1425" b="1" i="0" u="none" strike="noStrike" kern="1200" cap="none" spc="0" baseline="0">
              <a:solidFill>
                <a:srgbClr val="DDEAF2"/>
              </a:solidFill>
              <a:latin typeface="Calibri" pitchFamily="0" charset="0"/>
              <a:ea typeface="Calibri" pitchFamily="0" charset="0"/>
              <a:cs typeface="Calibri" pitchFamily="0" charset="0"/>
            </a:endParaRPr>
          </a:p>
        </p:txBody>
      </p:sp>
      <p:sp>
        <p:nvSpPr>
          <p:cNvPr id="127" name="Rectangle"/>
          <p:cNvSpPr>
            <a:spLocks/>
          </p:cNvSpPr>
          <p:nvPr/>
        </p:nvSpPr>
        <p:spPr>
          <a:xfrm rot="0">
            <a:off x="1000124" y="4343400"/>
            <a:ext cx="3286124" cy="685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0" i="0" u="none" strike="noStrike" kern="1200" cap="none" spc="0" baseline="0">
                <a:solidFill>
                  <a:srgbClr val="FFFFFF"/>
                </a:solidFill>
                <a:latin typeface="Calibri" pitchFamily="0" charset="0"/>
                <a:ea typeface="Calibri" pitchFamily="0" charset="0"/>
                <a:cs typeface="Calibri" pitchFamily="0" charset="0"/>
              </a:rPr>
              <a:t>Hook → Demo → Benefit → Price → Order CTA</a:t>
            </a:r>
            <a:endParaRPr lang="zh-CN" altLang="en-US" sz="1425" b="0" i="0" u="none" strike="noStrike" kern="1200" cap="none" spc="0" baseline="0">
              <a:solidFill>
                <a:srgbClr val="FFFFFF"/>
              </a:solidFill>
              <a:latin typeface="Calibri" pitchFamily="0" charset="0"/>
              <a:ea typeface="Calibri" pitchFamily="0" charset="0"/>
              <a:cs typeface="Calibri" pitchFamily="0" charset="0"/>
            </a:endParaRPr>
          </a:p>
        </p:txBody>
      </p:sp>
      <p:sp>
        <p:nvSpPr>
          <p:cNvPr id="128" name="Rectangle"/>
          <p:cNvSpPr>
            <a:spLocks/>
          </p:cNvSpPr>
          <p:nvPr/>
        </p:nvSpPr>
        <p:spPr>
          <a:xfrm rot="0">
            <a:off x="5810250" y="1752599"/>
            <a:ext cx="219075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1" i="0" u="none" strike="noStrike" kern="1200" cap="none" spc="0" baseline="0">
                <a:solidFill>
                  <a:srgbClr val="168FC7"/>
                </a:solidFill>
                <a:latin typeface="Calibri" pitchFamily="0" charset="0"/>
                <a:ea typeface="Calibri" pitchFamily="0" charset="0"/>
                <a:cs typeface="Calibri" pitchFamily="0" charset="0"/>
              </a:rPr>
              <a:t>Cover idea</a:t>
            </a:r>
            <a:endParaRPr lang="zh-CN" altLang="en-US" sz="1275" b="1" i="0" u="none" strike="noStrike" kern="1200" cap="none" spc="0" baseline="0">
              <a:solidFill>
                <a:srgbClr val="168FC7"/>
              </a:solidFill>
              <a:latin typeface="Calibri" pitchFamily="0" charset="0"/>
              <a:ea typeface="Calibri" pitchFamily="0" charset="0"/>
              <a:cs typeface="Calibri" pitchFamily="0" charset="0"/>
            </a:endParaRPr>
          </a:p>
        </p:txBody>
      </p:sp>
      <p:sp>
        <p:nvSpPr>
          <p:cNvPr id="129" name="Rounded rectangle"/>
          <p:cNvSpPr>
            <a:spLocks/>
          </p:cNvSpPr>
          <p:nvPr/>
        </p:nvSpPr>
        <p:spPr>
          <a:xfrm rot="0">
            <a:off x="5810250" y="2190750"/>
            <a:ext cx="4857750" cy="2381250"/>
          </a:xfrm>
          <a:prstGeom prst="roundRect">
            <a:avLst>
              <a:gd name="adj" fmla="val 4800"/>
            </a:avLst>
          </a:prstGeom>
          <a:solidFill>
            <a:srgbClr val="EAF6FB"/>
          </a:solidFill>
          <a:ln w="9525" cmpd="sng" cap="flat">
            <a:solidFill>
              <a:srgbClr val="EAF6FB"/>
            </a:solidFill>
            <a:prstDash val="solid"/>
            <a:round/>
          </a:ln>
        </p:spPr>
      </p:sp>
      <p:sp>
        <p:nvSpPr>
          <p:cNvPr id="130" name="Rectangle"/>
          <p:cNvSpPr>
            <a:spLocks/>
          </p:cNvSpPr>
          <p:nvPr/>
        </p:nvSpPr>
        <p:spPr>
          <a:xfrm rot="0">
            <a:off x="6153150" y="2543175"/>
            <a:ext cx="1238250" cy="2476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5D7184"/>
                </a:solidFill>
                <a:latin typeface="Calibri" pitchFamily="0" charset="0"/>
                <a:ea typeface="Calibri" pitchFamily="0" charset="0"/>
                <a:cs typeface="Calibri" pitchFamily="0" charset="0"/>
              </a:rPr>
              <a:t>BEFORE</a:t>
            </a:r>
            <a:endParaRPr lang="zh-CN" altLang="en-US" sz="1200" b="1" i="0" u="none" strike="noStrike" kern="1200" cap="none" spc="0" baseline="0">
              <a:solidFill>
                <a:srgbClr val="5D7184"/>
              </a:solidFill>
              <a:latin typeface="Calibri" pitchFamily="0" charset="0"/>
              <a:ea typeface="Calibri" pitchFamily="0" charset="0"/>
              <a:cs typeface="Calibri" pitchFamily="0" charset="0"/>
            </a:endParaRPr>
          </a:p>
        </p:txBody>
      </p:sp>
      <p:sp>
        <p:nvSpPr>
          <p:cNvPr id="131" name="Rectangle"/>
          <p:cNvSpPr>
            <a:spLocks/>
          </p:cNvSpPr>
          <p:nvPr/>
        </p:nvSpPr>
        <p:spPr>
          <a:xfrm rot="0">
            <a:off x="6153150" y="2905125"/>
            <a:ext cx="16192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102A43"/>
                </a:solidFill>
                <a:latin typeface="Calibri" pitchFamily="0" charset="0"/>
                <a:ea typeface="Calibri" pitchFamily="0" charset="0"/>
                <a:cs typeface="Calibri" pitchFamily="0" charset="0"/>
              </a:rPr>
              <a:t>Daily frustration</a:t>
            </a:r>
            <a:endParaRPr lang="zh-CN" altLang="en-US" sz="18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32" name="Rectangle"/>
          <p:cNvSpPr>
            <a:spLocks/>
          </p:cNvSpPr>
          <p:nvPr/>
        </p:nvSpPr>
        <p:spPr>
          <a:xfrm rot="0">
            <a:off x="8401050" y="2543175"/>
            <a:ext cx="1238250" cy="2476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F26B5B"/>
                </a:solidFill>
                <a:latin typeface="Calibri" pitchFamily="0" charset="0"/>
                <a:ea typeface="Calibri" pitchFamily="0" charset="0"/>
                <a:cs typeface="Calibri" pitchFamily="0" charset="0"/>
              </a:rPr>
              <a:t>AFTER</a:t>
            </a:r>
            <a:endParaRPr lang="zh-CN" altLang="en-US" sz="1200" b="1" i="0" u="none" strike="noStrike" kern="1200" cap="none" spc="0" baseline="0">
              <a:solidFill>
                <a:srgbClr val="F26B5B"/>
              </a:solidFill>
              <a:latin typeface="Calibri" pitchFamily="0" charset="0"/>
              <a:ea typeface="Calibri" pitchFamily="0" charset="0"/>
              <a:cs typeface="Calibri" pitchFamily="0" charset="0"/>
            </a:endParaRPr>
          </a:p>
        </p:txBody>
      </p:sp>
      <p:sp>
        <p:nvSpPr>
          <p:cNvPr id="133" name="Rectangle"/>
          <p:cNvSpPr>
            <a:spLocks/>
          </p:cNvSpPr>
          <p:nvPr/>
        </p:nvSpPr>
        <p:spPr>
          <a:xfrm rot="0">
            <a:off x="8401050" y="2905125"/>
            <a:ext cx="16192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102A43"/>
                </a:solidFill>
                <a:latin typeface="Calibri" pitchFamily="0" charset="0"/>
                <a:ea typeface="Calibri" pitchFamily="0" charset="0"/>
                <a:cs typeface="Calibri" pitchFamily="0" charset="0"/>
              </a:rPr>
              <a:t>Product solves it</a:t>
            </a:r>
            <a:endParaRPr lang="zh-CN" altLang="en-US" sz="18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34" name="Rectangle"/>
          <p:cNvSpPr>
            <a:spLocks/>
          </p:cNvSpPr>
          <p:nvPr/>
        </p:nvSpPr>
        <p:spPr>
          <a:xfrm rot="0">
            <a:off x="5810250" y="4876800"/>
            <a:ext cx="4953000" cy="523875"/>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0" i="0" u="none" strike="noStrike" kern="1200" cap="none" spc="0" baseline="0">
                <a:solidFill>
                  <a:srgbClr val="183B56"/>
                </a:solidFill>
                <a:latin typeface="Calibri" pitchFamily="0" charset="0"/>
                <a:ea typeface="Calibri" pitchFamily="0" charset="0"/>
                <a:cs typeface="Calibri" pitchFamily="0" charset="0"/>
              </a:rPr>
              <a:t>Large product close-up + short benefit line; no cluttered collage</a:t>
            </a:r>
            <a:endParaRPr lang="zh-CN" altLang="en-US" sz="1425" b="0" i="0" u="none" strike="noStrike" kern="1200" cap="none" spc="0" baseline="0">
              <a:solidFill>
                <a:srgbClr val="183B56"/>
              </a:solidFill>
              <a:latin typeface="Calibri" pitchFamily="0" charset="0"/>
              <a:ea typeface="Calibri" pitchFamily="0" charset="0"/>
              <a:cs typeface="Calibri" pitchFamily="0" charset="0"/>
            </a:endParaRPr>
          </a:p>
        </p:txBody>
      </p:sp>
      <p:sp>
        <p:nvSpPr>
          <p:cNvPr id="136"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08</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88187455"/>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40" name="Rectangle"/>
          <p:cNvSpPr>
            <a:spLocks/>
          </p:cNvSpPr>
          <p:nvPr/>
        </p:nvSpPr>
        <p:spPr>
          <a:xfrm rot="0">
            <a:off x="609600" y="323849"/>
            <a:ext cx="3143249" cy="5905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 · CONTENT PLAN</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141"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Content moves the customer from curiosity to checkout.</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42"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143" name="Rounded rectangle"/>
          <p:cNvSpPr>
            <a:spLocks/>
          </p:cNvSpPr>
          <p:nvPr/>
        </p:nvSpPr>
        <p:spPr>
          <a:xfrm rot="0">
            <a:off x="647699" y="1809750"/>
            <a:ext cx="2476500" cy="2857500"/>
          </a:xfrm>
          <a:prstGeom prst="roundRect">
            <a:avLst>
              <a:gd name="adj" fmla="val 4615"/>
            </a:avLst>
          </a:prstGeom>
          <a:solidFill>
            <a:srgbClr val="F6F9FC"/>
          </a:solidFill>
          <a:ln w="9525" cmpd="sng" cap="flat">
            <a:solidFill>
              <a:srgbClr val="D6E4EC"/>
            </a:solidFill>
            <a:prstDash val="solid"/>
            <a:round/>
          </a:ln>
        </p:spPr>
      </p:sp>
      <p:sp>
        <p:nvSpPr>
          <p:cNvPr id="144" name="Oval"/>
          <p:cNvSpPr>
            <a:spLocks/>
          </p:cNvSpPr>
          <p:nvPr/>
        </p:nvSpPr>
        <p:spPr>
          <a:xfrm rot="0">
            <a:off x="857250" y="2038350"/>
            <a:ext cx="514349" cy="514350"/>
          </a:xfrm>
          <a:prstGeom prst="ellipse"/>
          <a:solidFill>
            <a:srgbClr val="168FC7"/>
          </a:solidFill>
          <a:ln w="9525" cmpd="sng" cap="flat">
            <a:solidFill>
              <a:srgbClr val="168FC7"/>
            </a:solidFill>
            <a:prstDash val="solid"/>
            <a:round/>
          </a:ln>
        </p:spPr>
      </p:sp>
      <p:sp>
        <p:nvSpPr>
          <p:cNvPr id="145" name="Rectangle"/>
          <p:cNvSpPr>
            <a:spLocks/>
          </p:cNvSpPr>
          <p:nvPr/>
        </p:nvSpPr>
        <p:spPr>
          <a:xfrm rot="0">
            <a:off x="857250" y="2038350"/>
            <a:ext cx="514349" cy="51435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725" b="1" i="0" u="none" strike="noStrike" kern="1200" cap="none" spc="0" baseline="0">
                <a:solidFill>
                  <a:srgbClr val="FFFFFF"/>
                </a:solidFill>
                <a:latin typeface="Calibri" pitchFamily="0" charset="0"/>
                <a:ea typeface="Calibri" pitchFamily="0" charset="0"/>
                <a:cs typeface="Calibri" pitchFamily="0" charset="0"/>
              </a:rPr>
              <a:t>1</a:t>
            </a:r>
            <a:endParaRPr lang="zh-CN" altLang="en-US" sz="1725" b="1" i="0" u="none" strike="noStrike" kern="1200" cap="none" spc="0" baseline="0">
              <a:solidFill>
                <a:srgbClr val="FFFFFF"/>
              </a:solidFill>
              <a:latin typeface="Calibri" pitchFamily="0" charset="0"/>
              <a:ea typeface="Calibri" pitchFamily="0" charset="0"/>
              <a:cs typeface="Calibri" pitchFamily="0" charset="0"/>
            </a:endParaRPr>
          </a:p>
        </p:txBody>
      </p:sp>
      <p:sp>
        <p:nvSpPr>
          <p:cNvPr id="146" name="Rectangle"/>
          <p:cNvSpPr>
            <a:spLocks/>
          </p:cNvSpPr>
          <p:nvPr/>
        </p:nvSpPr>
        <p:spPr>
          <a:xfrm rot="0">
            <a:off x="857250" y="2781300"/>
            <a:ext cx="2000249"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168FC7"/>
                </a:solidFill>
                <a:latin typeface="Calibri" pitchFamily="0" charset="0"/>
                <a:ea typeface="Calibri" pitchFamily="0" charset="0"/>
                <a:cs typeface="Calibri" pitchFamily="0" charset="0"/>
              </a:rPr>
              <a:t>HOOK</a:t>
            </a:r>
            <a:endParaRPr lang="zh-CN" altLang="en-US" sz="12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147" name="Rectangle"/>
          <p:cNvSpPr>
            <a:spLocks/>
          </p:cNvSpPr>
          <p:nvPr/>
        </p:nvSpPr>
        <p:spPr>
          <a:xfrm rot="0">
            <a:off x="857250" y="3190875"/>
            <a:ext cx="2000249" cy="8763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650" b="1" i="0" u="none" strike="noStrike" kern="1200" cap="none" spc="0" baseline="0">
                <a:solidFill>
                  <a:srgbClr val="102A43"/>
                </a:solidFill>
                <a:latin typeface="Calibri" pitchFamily="0" charset="0"/>
                <a:ea typeface="Calibri" pitchFamily="0" charset="0"/>
                <a:cs typeface="Calibri" pitchFamily="0" charset="0"/>
              </a:rPr>
              <a:t>“Still struggling with this?”</a:t>
            </a:r>
            <a:endParaRPr lang="zh-CN" altLang="en-US" sz="165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48" name="Rounded rectangle"/>
          <p:cNvSpPr>
            <a:spLocks/>
          </p:cNvSpPr>
          <p:nvPr/>
        </p:nvSpPr>
        <p:spPr>
          <a:xfrm rot="0">
            <a:off x="3467100" y="1809750"/>
            <a:ext cx="2476500" cy="2857500"/>
          </a:xfrm>
          <a:prstGeom prst="roundRect">
            <a:avLst>
              <a:gd name="adj" fmla="val 4615"/>
            </a:avLst>
          </a:prstGeom>
          <a:solidFill>
            <a:srgbClr val="F6F9FC"/>
          </a:solidFill>
          <a:ln w="9525" cmpd="sng" cap="flat">
            <a:solidFill>
              <a:srgbClr val="D6E4EC"/>
            </a:solidFill>
            <a:prstDash val="solid"/>
            <a:round/>
          </a:ln>
        </p:spPr>
      </p:sp>
      <p:sp>
        <p:nvSpPr>
          <p:cNvPr id="149" name="Oval"/>
          <p:cNvSpPr>
            <a:spLocks/>
          </p:cNvSpPr>
          <p:nvPr/>
        </p:nvSpPr>
        <p:spPr>
          <a:xfrm rot="0">
            <a:off x="3676650" y="2038350"/>
            <a:ext cx="514350" cy="514350"/>
          </a:xfrm>
          <a:prstGeom prst="ellipse"/>
          <a:solidFill>
            <a:srgbClr val="F26B5B"/>
          </a:solidFill>
          <a:ln w="9525" cmpd="sng" cap="flat">
            <a:solidFill>
              <a:srgbClr val="F26B5B"/>
            </a:solidFill>
            <a:prstDash val="solid"/>
            <a:round/>
          </a:ln>
        </p:spPr>
      </p:sp>
      <p:sp>
        <p:nvSpPr>
          <p:cNvPr id="150" name="Rectangle"/>
          <p:cNvSpPr>
            <a:spLocks/>
          </p:cNvSpPr>
          <p:nvPr/>
        </p:nvSpPr>
        <p:spPr>
          <a:xfrm rot="0">
            <a:off x="3676650" y="2038350"/>
            <a:ext cx="514350" cy="51435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725" b="1" i="0" u="none" strike="noStrike" kern="1200" cap="none" spc="0" baseline="0">
                <a:solidFill>
                  <a:srgbClr val="FFFFFF"/>
                </a:solidFill>
                <a:latin typeface="Calibri" pitchFamily="0" charset="0"/>
                <a:ea typeface="Calibri" pitchFamily="0" charset="0"/>
                <a:cs typeface="Calibri" pitchFamily="0" charset="0"/>
              </a:rPr>
              <a:t>2</a:t>
            </a:r>
            <a:endParaRPr lang="zh-CN" altLang="en-US" sz="1725" b="1" i="0" u="none" strike="noStrike" kern="1200" cap="none" spc="0" baseline="0">
              <a:solidFill>
                <a:srgbClr val="FFFFFF"/>
              </a:solidFill>
              <a:latin typeface="Calibri" pitchFamily="0" charset="0"/>
              <a:ea typeface="Calibri" pitchFamily="0" charset="0"/>
              <a:cs typeface="Calibri" pitchFamily="0" charset="0"/>
            </a:endParaRPr>
          </a:p>
        </p:txBody>
      </p:sp>
      <p:sp>
        <p:nvSpPr>
          <p:cNvPr id="151" name="Rectangle"/>
          <p:cNvSpPr>
            <a:spLocks/>
          </p:cNvSpPr>
          <p:nvPr/>
        </p:nvSpPr>
        <p:spPr>
          <a:xfrm rot="0">
            <a:off x="3676650" y="2781300"/>
            <a:ext cx="2000249"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F26B5B"/>
                </a:solidFill>
                <a:latin typeface="Calibri" pitchFamily="0" charset="0"/>
                <a:ea typeface="Calibri" pitchFamily="0" charset="0"/>
                <a:cs typeface="Calibri" pitchFamily="0" charset="0"/>
              </a:rPr>
              <a:t>DEMO</a:t>
            </a:r>
            <a:endParaRPr lang="zh-CN" altLang="en-US" sz="1200" b="1" i="0" u="none" strike="noStrike" kern="1200" cap="none" spc="0" baseline="0">
              <a:solidFill>
                <a:srgbClr val="F26B5B"/>
              </a:solidFill>
              <a:latin typeface="Calibri" pitchFamily="0" charset="0"/>
              <a:ea typeface="Calibri" pitchFamily="0" charset="0"/>
              <a:cs typeface="Calibri" pitchFamily="0" charset="0"/>
            </a:endParaRPr>
          </a:p>
        </p:txBody>
      </p:sp>
      <p:sp>
        <p:nvSpPr>
          <p:cNvPr id="152" name="Rectangle"/>
          <p:cNvSpPr>
            <a:spLocks/>
          </p:cNvSpPr>
          <p:nvPr/>
        </p:nvSpPr>
        <p:spPr>
          <a:xfrm rot="0">
            <a:off x="3676650" y="3190875"/>
            <a:ext cx="2000249" cy="8763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650" b="1" i="0" u="none" strike="noStrike" kern="1200" cap="none" spc="0" baseline="0">
                <a:solidFill>
                  <a:srgbClr val="102A43"/>
                </a:solidFill>
                <a:latin typeface="Calibri" pitchFamily="0" charset="0"/>
                <a:ea typeface="Calibri" pitchFamily="0" charset="0"/>
                <a:cs typeface="Calibri" pitchFamily="0" charset="0"/>
              </a:rPr>
              <a:t>Show the product in real use</a:t>
            </a:r>
            <a:endParaRPr lang="zh-CN" altLang="en-US" sz="165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53" name="Rounded rectangle"/>
          <p:cNvSpPr>
            <a:spLocks/>
          </p:cNvSpPr>
          <p:nvPr/>
        </p:nvSpPr>
        <p:spPr>
          <a:xfrm rot="0">
            <a:off x="6286499" y="1809750"/>
            <a:ext cx="2476500" cy="2857500"/>
          </a:xfrm>
          <a:prstGeom prst="roundRect">
            <a:avLst>
              <a:gd name="adj" fmla="val 4615"/>
            </a:avLst>
          </a:prstGeom>
          <a:solidFill>
            <a:srgbClr val="F6F9FC"/>
          </a:solidFill>
          <a:ln w="9525" cmpd="sng" cap="flat">
            <a:solidFill>
              <a:srgbClr val="D6E4EC"/>
            </a:solidFill>
            <a:prstDash val="solid"/>
            <a:round/>
          </a:ln>
        </p:spPr>
      </p:sp>
      <p:sp>
        <p:nvSpPr>
          <p:cNvPr id="154" name="Oval"/>
          <p:cNvSpPr>
            <a:spLocks/>
          </p:cNvSpPr>
          <p:nvPr/>
        </p:nvSpPr>
        <p:spPr>
          <a:xfrm rot="0">
            <a:off x="6496050" y="2038350"/>
            <a:ext cx="514349" cy="514350"/>
          </a:xfrm>
          <a:prstGeom prst="ellipse"/>
          <a:solidFill>
            <a:srgbClr val="D6A84B"/>
          </a:solidFill>
          <a:ln w="9525" cmpd="sng" cap="flat">
            <a:solidFill>
              <a:srgbClr val="D6A84B"/>
            </a:solidFill>
            <a:prstDash val="solid"/>
            <a:round/>
          </a:ln>
        </p:spPr>
      </p:sp>
      <p:sp>
        <p:nvSpPr>
          <p:cNvPr id="155" name="Rectangle"/>
          <p:cNvSpPr>
            <a:spLocks/>
          </p:cNvSpPr>
          <p:nvPr/>
        </p:nvSpPr>
        <p:spPr>
          <a:xfrm rot="0">
            <a:off x="6496050" y="2038350"/>
            <a:ext cx="514349" cy="51435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725" b="1" i="0" u="none" strike="noStrike" kern="1200" cap="none" spc="0" baseline="0">
                <a:solidFill>
                  <a:srgbClr val="FFFFFF"/>
                </a:solidFill>
                <a:latin typeface="Calibri" pitchFamily="0" charset="0"/>
                <a:ea typeface="Calibri" pitchFamily="0" charset="0"/>
                <a:cs typeface="Calibri" pitchFamily="0" charset="0"/>
              </a:rPr>
              <a:t>3</a:t>
            </a:r>
            <a:endParaRPr lang="zh-CN" altLang="en-US" sz="1725" b="1" i="0" u="none" strike="noStrike" kern="1200" cap="none" spc="0" baseline="0">
              <a:solidFill>
                <a:srgbClr val="FFFFFF"/>
              </a:solidFill>
              <a:latin typeface="Calibri" pitchFamily="0" charset="0"/>
              <a:ea typeface="Calibri" pitchFamily="0" charset="0"/>
              <a:cs typeface="Calibri" pitchFamily="0" charset="0"/>
            </a:endParaRPr>
          </a:p>
        </p:txBody>
      </p:sp>
      <p:sp>
        <p:nvSpPr>
          <p:cNvPr id="156" name="Rectangle"/>
          <p:cNvSpPr>
            <a:spLocks/>
          </p:cNvSpPr>
          <p:nvPr/>
        </p:nvSpPr>
        <p:spPr>
          <a:xfrm rot="0">
            <a:off x="6496050" y="2781300"/>
            <a:ext cx="2000249"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D6A84B"/>
                </a:solidFill>
                <a:latin typeface="Calibri" pitchFamily="0" charset="0"/>
                <a:ea typeface="Calibri" pitchFamily="0" charset="0"/>
                <a:cs typeface="Calibri" pitchFamily="0" charset="0"/>
              </a:rPr>
              <a:t>PROOF</a:t>
            </a:r>
            <a:endParaRPr lang="zh-CN" altLang="en-US" sz="1200" b="1" i="0" u="none" strike="noStrike" kern="1200" cap="none" spc="0" baseline="0">
              <a:solidFill>
                <a:srgbClr val="D6A84B"/>
              </a:solidFill>
              <a:latin typeface="Calibri" pitchFamily="0" charset="0"/>
              <a:ea typeface="Calibri" pitchFamily="0" charset="0"/>
              <a:cs typeface="Calibri" pitchFamily="0" charset="0"/>
            </a:endParaRPr>
          </a:p>
        </p:txBody>
      </p:sp>
      <p:sp>
        <p:nvSpPr>
          <p:cNvPr id="157" name="Rectangle"/>
          <p:cNvSpPr>
            <a:spLocks/>
          </p:cNvSpPr>
          <p:nvPr/>
        </p:nvSpPr>
        <p:spPr>
          <a:xfrm rot="0">
            <a:off x="6496050" y="3190875"/>
            <a:ext cx="2000249" cy="8763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650" b="1" i="0" u="none" strike="noStrike" kern="1200" cap="none" spc="0" baseline="0">
                <a:solidFill>
                  <a:srgbClr val="102A43"/>
                </a:solidFill>
                <a:latin typeface="Calibri" pitchFamily="0" charset="0"/>
                <a:ea typeface="Calibri" pitchFamily="0" charset="0"/>
                <a:cs typeface="Calibri" pitchFamily="0" charset="0"/>
              </a:rPr>
              <a:t>Close-ups, features, buyer feedback</a:t>
            </a:r>
            <a:endParaRPr lang="zh-CN" altLang="en-US" sz="165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58" name="Rounded rectangle"/>
          <p:cNvSpPr>
            <a:spLocks/>
          </p:cNvSpPr>
          <p:nvPr/>
        </p:nvSpPr>
        <p:spPr>
          <a:xfrm rot="0">
            <a:off x="9105900" y="1809750"/>
            <a:ext cx="2476500" cy="2857500"/>
          </a:xfrm>
          <a:prstGeom prst="roundRect">
            <a:avLst>
              <a:gd name="adj" fmla="val 4615"/>
            </a:avLst>
          </a:prstGeom>
          <a:solidFill>
            <a:srgbClr val="F6F9FC"/>
          </a:solidFill>
          <a:ln w="9525" cmpd="sng" cap="flat">
            <a:solidFill>
              <a:srgbClr val="D6E4EC"/>
            </a:solidFill>
            <a:prstDash val="solid"/>
            <a:round/>
          </a:ln>
        </p:spPr>
      </p:sp>
      <p:sp>
        <p:nvSpPr>
          <p:cNvPr id="159" name="Oval"/>
          <p:cNvSpPr>
            <a:spLocks/>
          </p:cNvSpPr>
          <p:nvPr/>
        </p:nvSpPr>
        <p:spPr>
          <a:xfrm rot="0">
            <a:off x="9315450" y="2038350"/>
            <a:ext cx="514350" cy="514350"/>
          </a:xfrm>
          <a:prstGeom prst="ellipse"/>
          <a:solidFill>
            <a:srgbClr val="249E73"/>
          </a:solidFill>
          <a:ln w="9525" cmpd="sng" cap="flat">
            <a:solidFill>
              <a:srgbClr val="249E73"/>
            </a:solidFill>
            <a:prstDash val="solid"/>
            <a:round/>
          </a:ln>
        </p:spPr>
      </p:sp>
      <p:sp>
        <p:nvSpPr>
          <p:cNvPr id="160" name="Rectangle"/>
          <p:cNvSpPr>
            <a:spLocks/>
          </p:cNvSpPr>
          <p:nvPr/>
        </p:nvSpPr>
        <p:spPr>
          <a:xfrm rot="0">
            <a:off x="9315450" y="2038350"/>
            <a:ext cx="514350" cy="51435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725" b="1" i="0" u="none" strike="noStrike" kern="1200" cap="none" spc="0" baseline="0">
                <a:solidFill>
                  <a:srgbClr val="FFFFFF"/>
                </a:solidFill>
                <a:latin typeface="Calibri" pitchFamily="0" charset="0"/>
                <a:ea typeface="Calibri" pitchFamily="0" charset="0"/>
                <a:cs typeface="Calibri" pitchFamily="0" charset="0"/>
              </a:rPr>
              <a:t>4</a:t>
            </a:r>
            <a:endParaRPr lang="zh-CN" altLang="en-US" sz="1725" b="1" i="0" u="none" strike="noStrike" kern="1200" cap="none" spc="0" baseline="0">
              <a:solidFill>
                <a:srgbClr val="FFFFFF"/>
              </a:solidFill>
              <a:latin typeface="Calibri" pitchFamily="0" charset="0"/>
              <a:ea typeface="Calibri" pitchFamily="0" charset="0"/>
              <a:cs typeface="Calibri" pitchFamily="0" charset="0"/>
            </a:endParaRPr>
          </a:p>
        </p:txBody>
      </p:sp>
      <p:sp>
        <p:nvSpPr>
          <p:cNvPr id="161" name="Rectangle"/>
          <p:cNvSpPr>
            <a:spLocks/>
          </p:cNvSpPr>
          <p:nvPr/>
        </p:nvSpPr>
        <p:spPr>
          <a:xfrm rot="0">
            <a:off x="9315450" y="2781300"/>
            <a:ext cx="2000249"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249E73"/>
                </a:solidFill>
                <a:latin typeface="Calibri" pitchFamily="0" charset="0"/>
                <a:ea typeface="Calibri" pitchFamily="0" charset="0"/>
                <a:cs typeface="Calibri" pitchFamily="0" charset="0"/>
              </a:rPr>
              <a:t>ACTION</a:t>
            </a:r>
            <a:endParaRPr lang="zh-CN" altLang="en-US" sz="1200" b="1" i="0" u="none" strike="noStrike" kern="1200" cap="none" spc="0" baseline="0">
              <a:solidFill>
                <a:srgbClr val="249E73"/>
              </a:solidFill>
              <a:latin typeface="Calibri" pitchFamily="0" charset="0"/>
              <a:ea typeface="Calibri" pitchFamily="0" charset="0"/>
              <a:cs typeface="Calibri" pitchFamily="0" charset="0"/>
            </a:endParaRPr>
          </a:p>
        </p:txBody>
      </p:sp>
      <p:sp>
        <p:nvSpPr>
          <p:cNvPr id="162" name="Rectangle"/>
          <p:cNvSpPr>
            <a:spLocks/>
          </p:cNvSpPr>
          <p:nvPr/>
        </p:nvSpPr>
        <p:spPr>
          <a:xfrm rot="0">
            <a:off x="9315450" y="3190875"/>
            <a:ext cx="2000249" cy="8763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650" b="1" i="0" u="none" strike="noStrike" kern="1200" cap="none" spc="0" baseline="0">
                <a:solidFill>
                  <a:srgbClr val="102A43"/>
                </a:solidFill>
                <a:latin typeface="Calibri" pitchFamily="0" charset="0"/>
                <a:ea typeface="Calibri" pitchFamily="0" charset="0"/>
                <a:cs typeface="Calibri" pitchFamily="0" charset="0"/>
              </a:rPr>
              <a:t>Price + delivery + order link</a:t>
            </a:r>
            <a:endParaRPr lang="zh-CN" altLang="en-US" sz="165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63" name="Rounded rectangle"/>
          <p:cNvSpPr>
            <a:spLocks/>
          </p:cNvSpPr>
          <p:nvPr/>
        </p:nvSpPr>
        <p:spPr>
          <a:xfrm rot="0">
            <a:off x="876299" y="5153025"/>
            <a:ext cx="10439400" cy="704850"/>
          </a:xfrm>
          <a:prstGeom prst="roundRect">
            <a:avLst>
              <a:gd name="adj" fmla="val 16217"/>
            </a:avLst>
          </a:prstGeom>
          <a:solidFill>
            <a:srgbClr val="EAF6FB"/>
          </a:solidFill>
          <a:ln w="9525" cmpd="sng" cap="flat">
            <a:solidFill>
              <a:srgbClr val="EAF6FB"/>
            </a:solidFill>
            <a:prstDash val="solid"/>
            <a:round/>
          </a:ln>
        </p:spPr>
      </p:sp>
      <p:sp>
        <p:nvSpPr>
          <p:cNvPr id="164" name="Rectangle"/>
          <p:cNvSpPr>
            <a:spLocks/>
          </p:cNvSpPr>
          <p:nvPr/>
        </p:nvSpPr>
        <p:spPr>
          <a:xfrm rot="0">
            <a:off x="1066800" y="5314949"/>
            <a:ext cx="10058401" cy="371475"/>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725" b="1" i="0" u="none" strike="noStrike" kern="1200" cap="none" spc="0" baseline="0">
                <a:solidFill>
                  <a:srgbClr val="102A43"/>
                </a:solidFill>
                <a:latin typeface="Calibri" pitchFamily="0" charset="0"/>
                <a:ea typeface="Calibri" pitchFamily="0" charset="0"/>
                <a:cs typeface="Calibri" pitchFamily="0" charset="0"/>
              </a:rPr>
              <a:t>Every post ends with one action: Shop now / WhatsApp to order.</a:t>
            </a:r>
            <a:endParaRPr lang="zh-CN" altLang="en-US" sz="1725" b="1" i="0" u="none" strike="noStrike" kern="1200" cap="none" spc="0" baseline="0">
              <a:solidFill>
                <a:srgbClr val="102A43"/>
              </a:solidFill>
              <a:latin typeface="Calibri" pitchFamily="0" charset="0"/>
              <a:ea typeface="Calibri" pitchFamily="0" charset="0"/>
              <a:cs typeface="Calibri" pitchFamily="0" charset="0"/>
            </a:endParaRPr>
          </a:p>
        </p:txBody>
      </p:sp>
      <p:sp>
        <p:nvSpPr>
          <p:cNvPr id="166"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09</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381198498"/>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rgbClr val="102A43"/>
        </a:solidFill>
      </p:bgPr>
    </p:bg>
    <p:spTree>
      <p:nvGrpSpPr>
        <p:cNvPr id="1" name=""/>
        <p:cNvGrpSpPr/>
        <p:nvPr/>
      </p:nvGrpSpPr>
      <p:grpSpPr>
        <a:xfrm>
          <a:off x="0" y="0"/>
          <a:ext cx="0" cy="0"/>
          <a:chOff x="0" y="0"/>
          <a:chExt cx="0" cy="0"/>
        </a:xfrm>
      </p:grpSpPr>
      <p:sp>
        <p:nvSpPr>
          <p:cNvPr id="171" name="Rectangle"/>
          <p:cNvSpPr>
            <a:spLocks/>
          </p:cNvSpPr>
          <p:nvPr/>
        </p:nvSpPr>
        <p:spPr>
          <a:xfrm rot="0">
            <a:off x="685800" y="1676400"/>
            <a:ext cx="7524750" cy="8572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750" b="1" i="0" u="none" strike="noStrike" kern="1200" cap="none" spc="0" baseline="0">
                <a:solidFill>
                  <a:srgbClr val="FFFFFF"/>
                </a:solidFill>
                <a:latin typeface="Calibri" pitchFamily="0" charset="0"/>
                <a:ea typeface="Calibri" pitchFamily="0" charset="0"/>
                <a:cs typeface="Calibri" pitchFamily="0" charset="0"/>
              </a:rPr>
              <a:t>Google Ads &amp; SEO Lead</a:t>
            </a:r>
            <a:endParaRPr lang="zh-CN" altLang="en-US" sz="3750" b="1" i="0" u="none" strike="noStrike" kern="1200" cap="none" spc="0" baseline="0">
              <a:solidFill>
                <a:srgbClr val="FFFFFF"/>
              </a:solidFill>
              <a:latin typeface="Calibri" pitchFamily="0" charset="0"/>
              <a:ea typeface="Calibri" pitchFamily="0" charset="0"/>
              <a:cs typeface="Calibri" pitchFamily="0" charset="0"/>
            </a:endParaRPr>
          </a:p>
        </p:txBody>
      </p:sp>
      <p:sp>
        <p:nvSpPr>
          <p:cNvPr id="172" name="Rectangle"/>
          <p:cNvSpPr>
            <a:spLocks/>
          </p:cNvSpPr>
          <p:nvPr/>
        </p:nvSpPr>
        <p:spPr>
          <a:xfrm rot="0">
            <a:off x="685800" y="2781300"/>
            <a:ext cx="6858000" cy="8382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0" i="0" u="none" strike="noStrike" kern="1200" cap="none" spc="0" baseline="0">
                <a:solidFill>
                  <a:srgbClr val="EAF6FB"/>
                </a:solidFill>
                <a:latin typeface="Calibri" pitchFamily="0" charset="0"/>
                <a:ea typeface="Calibri" pitchFamily="0" charset="0"/>
                <a:cs typeface="Calibri" pitchFamily="0" charset="0"/>
              </a:rPr>
              <a:t>Captures people already searching - and makes every landing page easier to trust.</a:t>
            </a:r>
            <a:endParaRPr lang="zh-CN" altLang="en-US" sz="1875" b="0" i="0" u="none" strike="noStrike" kern="1200" cap="none" spc="0" baseline="0">
              <a:solidFill>
                <a:srgbClr val="EAF6FB"/>
              </a:solidFill>
              <a:latin typeface="Calibri" pitchFamily="0" charset="0"/>
              <a:ea typeface="Calibri" pitchFamily="0" charset="0"/>
              <a:cs typeface="Calibri" pitchFamily="0" charset="0"/>
            </a:endParaRPr>
          </a:p>
        </p:txBody>
      </p:sp>
      <p:sp>
        <p:nvSpPr>
          <p:cNvPr id="173" name="Oval"/>
          <p:cNvSpPr>
            <a:spLocks/>
          </p:cNvSpPr>
          <p:nvPr/>
        </p:nvSpPr>
        <p:spPr>
          <a:xfrm rot="0">
            <a:off x="8858250" y="1047750"/>
            <a:ext cx="2095499" cy="2095499"/>
          </a:xfrm>
          <a:prstGeom prst="ellipse"/>
          <a:solidFill>
            <a:srgbClr val="FFFFFF"/>
          </a:solidFill>
          <a:ln w="9525" cmpd="sng" cap="flat">
            <a:solidFill>
              <a:srgbClr val="FFFFFF"/>
            </a:solidFill>
            <a:prstDash val="solid"/>
            <a:round/>
          </a:ln>
        </p:spPr>
      </p:sp>
      <p:sp>
        <p:nvSpPr>
          <p:cNvPr id="174" name="Rectangle"/>
          <p:cNvSpPr>
            <a:spLocks/>
          </p:cNvSpPr>
          <p:nvPr/>
        </p:nvSpPr>
        <p:spPr>
          <a:xfrm rot="0">
            <a:off x="8858250" y="1047750"/>
            <a:ext cx="2095499" cy="2095499"/>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6900" b="1" i="0" u="none" strike="noStrike" kern="1200" cap="none" spc="0" baseline="0">
                <a:solidFill>
                  <a:srgbClr val="102A43"/>
                </a:solidFill>
                <a:latin typeface="Calibri" pitchFamily="0" charset="0"/>
                <a:ea typeface="Calibri" pitchFamily="0" charset="0"/>
                <a:cs typeface="Calibri" pitchFamily="0" charset="0"/>
              </a:rPr>
              <a:t>3</a:t>
            </a:r>
            <a:endParaRPr lang="zh-CN" altLang="en-US" sz="69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76"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FFFFFF"/>
                </a:solidFill>
                <a:latin typeface="Calibri" pitchFamily="0" charset="0"/>
                <a:ea typeface="Calibri" pitchFamily="0" charset="0"/>
                <a:cs typeface="Calibri" pitchFamily="0" charset="0"/>
              </a:rPr>
              <a:t>10</a:t>
            </a:r>
            <a:endParaRPr lang="zh-CN" altLang="en-US" sz="750" b="1" i="0" u="none" strike="noStrike" kern="1200" cap="none" spc="0" baseline="0">
              <a:solidFill>
                <a:srgbClr val="FFFFFF"/>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711289593"/>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80" name="Rectangle"/>
          <p:cNvSpPr>
            <a:spLocks/>
          </p:cNvSpPr>
          <p:nvPr/>
        </p:nvSpPr>
        <p:spPr>
          <a:xfrm rot="0">
            <a:off x="609600" y="323849"/>
            <a:ext cx="314324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  GOOGLE ADS STRUCTURE</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181"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Search ads must follow customer intent - not catalogue size.</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182"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183" name="Rounded rectangle"/>
          <p:cNvSpPr>
            <a:spLocks/>
          </p:cNvSpPr>
          <p:nvPr/>
        </p:nvSpPr>
        <p:spPr>
          <a:xfrm rot="0">
            <a:off x="685800" y="1562100"/>
            <a:ext cx="10820400" cy="590550"/>
          </a:xfrm>
          <a:prstGeom prst="roundRect">
            <a:avLst>
              <a:gd name="adj" fmla="val 19356"/>
            </a:avLst>
          </a:prstGeom>
          <a:solidFill>
            <a:srgbClr val="EAF6FB"/>
          </a:solidFill>
          <a:ln w="9525" cmpd="sng" cap="flat">
            <a:solidFill>
              <a:srgbClr val="EAF6FB"/>
            </a:solidFill>
            <a:prstDash val="solid"/>
            <a:round/>
          </a:ln>
        </p:spPr>
      </p:sp>
      <p:sp>
        <p:nvSpPr>
          <p:cNvPr id="184" name="Rectangle"/>
          <p:cNvSpPr>
            <a:spLocks/>
          </p:cNvSpPr>
          <p:nvPr/>
        </p:nvSpPr>
        <p:spPr>
          <a:xfrm rot="0">
            <a:off x="876299" y="1695450"/>
            <a:ext cx="10439400" cy="30480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425" b="1" i="0" u="none" strike="noStrike" kern="1200" cap="none" spc="0" baseline="0">
                <a:solidFill>
                  <a:srgbClr val="102A43"/>
                </a:solidFill>
                <a:latin typeface="Calibri" pitchFamily="0" charset="0"/>
                <a:ea typeface="Calibri" pitchFamily="0" charset="0"/>
                <a:cs typeface="Calibri" pitchFamily="0" charset="0"/>
              </a:rPr>
              <a:t>Objective: Sales  |  Campaign: Search  |  Location: Pakistan  |  Destination: Matching category pages</a:t>
            </a:r>
            <a:endParaRPr lang="zh-CN" altLang="en-US" sz="1425" b="1" i="0" u="none" strike="noStrike" kern="1200" cap="none" spc="0" baseline="0">
              <a:solidFill>
                <a:srgbClr val="102A43"/>
              </a:solidFill>
              <a:latin typeface="Calibri" pitchFamily="0" charset="0"/>
              <a:ea typeface="Calibri" pitchFamily="0" charset="0"/>
              <a:cs typeface="Calibri" pitchFamily="0" charset="0"/>
            </a:endParaRPr>
          </a:p>
        </p:txBody>
      </p:sp>
      <p:sp>
        <p:nvSpPr>
          <p:cNvPr id="185" name="Rectangle"/>
          <p:cNvSpPr>
            <a:spLocks/>
          </p:cNvSpPr>
          <p:nvPr/>
        </p:nvSpPr>
        <p:spPr>
          <a:xfrm rot="0">
            <a:off x="781050" y="2476500"/>
            <a:ext cx="4953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1" i="0" u="none" strike="noStrike" kern="1200" cap="none" spc="0" baseline="0">
                <a:solidFill>
                  <a:srgbClr val="168FC7"/>
                </a:solidFill>
                <a:latin typeface="Calibri" pitchFamily="0" charset="0"/>
                <a:ea typeface="Calibri" pitchFamily="0" charset="0"/>
                <a:cs typeface="Calibri" pitchFamily="0" charset="0"/>
              </a:rPr>
              <a:t>AD GROUP 1 · FASHION ACCESSORIES</a:t>
            </a:r>
            <a:endParaRPr lang="zh-CN" altLang="en-US" sz="1350" b="1" i="0" u="none" strike="noStrike" kern="1200" cap="none" spc="0" baseline="0">
              <a:solidFill>
                <a:srgbClr val="168FC7"/>
              </a:solidFill>
              <a:latin typeface="Calibri" pitchFamily="0" charset="0"/>
              <a:ea typeface="Calibri" pitchFamily="0" charset="0"/>
              <a:cs typeface="Calibri" pitchFamily="0" charset="0"/>
            </a:endParaRPr>
          </a:p>
        </p:txBody>
      </p:sp>
      <p:sp>
        <p:nvSpPr>
          <p:cNvPr id="186" name="Rectangle"/>
          <p:cNvSpPr>
            <a:spLocks/>
          </p:cNvSpPr>
          <p:nvPr/>
        </p:nvSpPr>
        <p:spPr>
          <a:xfrm rot="0">
            <a:off x="6305550" y="2476500"/>
            <a:ext cx="4953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1" i="0" u="none" strike="noStrike" kern="1200" cap="none" spc="0" baseline="0">
                <a:solidFill>
                  <a:srgbClr val="F26B5B"/>
                </a:solidFill>
                <a:latin typeface="Calibri" pitchFamily="0" charset="0"/>
                <a:ea typeface="Calibri" pitchFamily="0" charset="0"/>
                <a:cs typeface="Calibri" pitchFamily="0" charset="0"/>
              </a:rPr>
              <a:t>AD GROUP 2 · WELLNESS ESSENTIALS</a:t>
            </a:r>
            <a:endParaRPr lang="zh-CN" altLang="en-US" sz="1350" b="1" i="0" u="none" strike="noStrike" kern="1200" cap="none" spc="0" baseline="0">
              <a:solidFill>
                <a:srgbClr val="F26B5B"/>
              </a:solidFill>
              <a:latin typeface="Calibri" pitchFamily="0" charset="0"/>
              <a:ea typeface="Calibri" pitchFamily="0" charset="0"/>
              <a:cs typeface="Calibri" pitchFamily="0" charset="0"/>
            </a:endParaRPr>
          </a:p>
        </p:txBody>
      </p:sp>
      <p:sp>
        <p:nvSpPr>
          <p:cNvPr id="187" name="Rectangle"/>
          <p:cNvSpPr>
            <a:spLocks/>
          </p:cNvSpPr>
          <p:nvPr/>
        </p:nvSpPr>
        <p:spPr>
          <a:xfrm rot="0">
            <a:off x="876299" y="2933700"/>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1" i="0" u="none" strike="noStrike" kern="1200" cap="none" spc="0" baseline="0">
                <a:solidFill>
                  <a:srgbClr val="183B56"/>
                </a:solidFill>
                <a:latin typeface="Calibri" pitchFamily="0" charset="0"/>
                <a:ea typeface="Calibri" pitchFamily="0" charset="0"/>
                <a:cs typeface="Calibri" pitchFamily="0" charset="0"/>
              </a:rPr>
              <a:t>[watches for women]</a:t>
            </a:r>
            <a:endParaRPr lang="zh-CN" altLang="en-US" sz="1350" b="1" i="0" u="none" strike="noStrike" kern="1200" cap="none" spc="0" baseline="0">
              <a:solidFill>
                <a:srgbClr val="183B56"/>
              </a:solidFill>
              <a:latin typeface="Calibri" pitchFamily="0" charset="0"/>
              <a:ea typeface="Calibri" pitchFamily="0" charset="0"/>
              <a:cs typeface="Calibri" pitchFamily="0" charset="0"/>
            </a:endParaRPr>
          </a:p>
        </p:txBody>
      </p:sp>
      <p:sp>
        <p:nvSpPr>
          <p:cNvPr id="188" name="Rectangle"/>
          <p:cNvSpPr>
            <a:spLocks/>
          </p:cNvSpPr>
          <p:nvPr/>
        </p:nvSpPr>
        <p:spPr>
          <a:xfrm rot="0">
            <a:off x="876299" y="3343275"/>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"fashion jewellery pakistan"</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89" name="Rectangle"/>
          <p:cNvSpPr>
            <a:spLocks/>
          </p:cNvSpPr>
          <p:nvPr/>
        </p:nvSpPr>
        <p:spPr>
          <a:xfrm rot="0">
            <a:off x="876299" y="3752849"/>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[bracelets online pakistan]</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90" name="Rectangle"/>
          <p:cNvSpPr>
            <a:spLocks/>
          </p:cNvSpPr>
          <p:nvPr/>
        </p:nvSpPr>
        <p:spPr>
          <a:xfrm rot="0">
            <a:off x="876299" y="4162425"/>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"trendy accessories online"</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91" name="Rectangle"/>
          <p:cNvSpPr>
            <a:spLocks/>
          </p:cNvSpPr>
          <p:nvPr/>
        </p:nvSpPr>
        <p:spPr>
          <a:xfrm rot="0">
            <a:off x="876299" y="4572000"/>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[watches online pakistan]</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92" name="Rectangle"/>
          <p:cNvSpPr>
            <a:spLocks/>
          </p:cNvSpPr>
          <p:nvPr/>
        </p:nvSpPr>
        <p:spPr>
          <a:xfrm rot="0">
            <a:off x="876299" y="4981575"/>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"pinterest jewellery pakistan"</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93" name="Rectangle"/>
          <p:cNvSpPr>
            <a:spLocks/>
          </p:cNvSpPr>
          <p:nvPr/>
        </p:nvSpPr>
        <p:spPr>
          <a:xfrm rot="0">
            <a:off x="6400800" y="2933700"/>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1" i="0" u="none" strike="noStrike" kern="1200" cap="none" spc="0" baseline="0">
                <a:solidFill>
                  <a:srgbClr val="183B56"/>
                </a:solidFill>
                <a:latin typeface="Calibri" pitchFamily="0" charset="0"/>
                <a:ea typeface="Calibri" pitchFamily="0" charset="0"/>
                <a:cs typeface="Calibri" pitchFamily="0" charset="0"/>
              </a:rPr>
              <a:t>[body massager pakistan]</a:t>
            </a:r>
            <a:endParaRPr lang="zh-CN" altLang="en-US" sz="1350" b="1" i="0" u="none" strike="noStrike" kern="1200" cap="none" spc="0" baseline="0">
              <a:solidFill>
                <a:srgbClr val="183B56"/>
              </a:solidFill>
              <a:latin typeface="Calibri" pitchFamily="0" charset="0"/>
              <a:ea typeface="Calibri" pitchFamily="0" charset="0"/>
              <a:cs typeface="Calibri" pitchFamily="0" charset="0"/>
            </a:endParaRPr>
          </a:p>
        </p:txBody>
      </p:sp>
      <p:sp>
        <p:nvSpPr>
          <p:cNvPr id="194" name="Rectangle"/>
          <p:cNvSpPr>
            <a:spLocks/>
          </p:cNvSpPr>
          <p:nvPr/>
        </p:nvSpPr>
        <p:spPr>
          <a:xfrm rot="0">
            <a:off x="6400800" y="3343275"/>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"back support belt"</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95" name="Rectangle"/>
          <p:cNvSpPr>
            <a:spLocks/>
          </p:cNvSpPr>
          <p:nvPr/>
        </p:nvSpPr>
        <p:spPr>
          <a:xfrm rot="0">
            <a:off x="6400800" y="3752849"/>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[massage gun price pakistan]</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96" name="Rectangle"/>
          <p:cNvSpPr>
            <a:spLocks/>
          </p:cNvSpPr>
          <p:nvPr/>
        </p:nvSpPr>
        <p:spPr>
          <a:xfrm rot="0">
            <a:off x="6400800" y="4162425"/>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"pain relief massager"</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97" name="Rectangle"/>
          <p:cNvSpPr>
            <a:spLocks/>
          </p:cNvSpPr>
          <p:nvPr/>
        </p:nvSpPr>
        <p:spPr>
          <a:xfrm rot="0">
            <a:off x="6400800" y="4572000"/>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[back belt price pakistan]</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98" name="Rectangle"/>
          <p:cNvSpPr>
            <a:spLocks/>
          </p:cNvSpPr>
          <p:nvPr/>
        </p:nvSpPr>
        <p:spPr>
          <a:xfrm rot="0">
            <a:off x="6400800" y="4981575"/>
            <a:ext cx="457200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183B56"/>
                </a:solidFill>
                <a:latin typeface="Calibri" pitchFamily="0" charset="0"/>
                <a:ea typeface="Calibri" pitchFamily="0" charset="0"/>
                <a:cs typeface="Calibri" pitchFamily="0" charset="0"/>
              </a:rPr>
              <a:t>"neck massager online"</a:t>
            </a:r>
            <a:endParaRPr lang="zh-CN" altLang="en-US" sz="1350" b="0" i="0" u="none" strike="noStrike" kern="1200" cap="none" spc="0" baseline="0">
              <a:solidFill>
                <a:srgbClr val="183B56"/>
              </a:solidFill>
              <a:latin typeface="Calibri" pitchFamily="0" charset="0"/>
              <a:ea typeface="Calibri" pitchFamily="0" charset="0"/>
              <a:cs typeface="Calibri" pitchFamily="0" charset="0"/>
            </a:endParaRPr>
          </a:p>
        </p:txBody>
      </p:sp>
      <p:sp>
        <p:nvSpPr>
          <p:cNvPr id="199" name="Rectangle"/>
          <p:cNvSpPr>
            <a:spLocks/>
          </p:cNvSpPr>
          <p:nvPr/>
        </p:nvSpPr>
        <p:spPr>
          <a:xfrm rot="0">
            <a:off x="781050" y="5657849"/>
            <a:ext cx="5143501"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5D7184"/>
                </a:solidFill>
                <a:latin typeface="Calibri" pitchFamily="0" charset="0"/>
                <a:ea typeface="Calibri" pitchFamily="0" charset="0"/>
                <a:cs typeface="Calibri" pitchFamily="0" charset="0"/>
              </a:rPr>
              <a:t>[exact match]   “phrase match”</a:t>
            </a:r>
            <a:endParaRPr lang="zh-CN" altLang="en-US" sz="1200" b="1" i="0" u="none" strike="noStrike" kern="1200" cap="none" spc="0" baseline="0">
              <a:solidFill>
                <a:srgbClr val="5D7184"/>
              </a:solidFill>
              <a:latin typeface="Calibri" pitchFamily="0" charset="0"/>
              <a:ea typeface="Calibri" pitchFamily="0" charset="0"/>
              <a:cs typeface="Calibri" pitchFamily="0" charset="0"/>
            </a:endParaRPr>
          </a:p>
        </p:txBody>
      </p:sp>
      <p:sp>
        <p:nvSpPr>
          <p:cNvPr id="200" name="Rectangle"/>
          <p:cNvSpPr>
            <a:spLocks/>
          </p:cNvSpPr>
          <p:nvPr/>
        </p:nvSpPr>
        <p:spPr>
          <a:xfrm rot="0">
            <a:off x="6305550" y="5600699"/>
            <a:ext cx="4953000" cy="3810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1" i="0" u="none" strike="noStrike" kern="1200" cap="none" spc="0" baseline="0">
                <a:solidFill>
                  <a:srgbClr val="102A43"/>
                </a:solidFill>
                <a:latin typeface="Calibri" pitchFamily="0" charset="0"/>
                <a:ea typeface="Calibri" pitchFamily="0" charset="0"/>
                <a:cs typeface="Calibri" pitchFamily="0" charset="0"/>
              </a:rPr>
              <a:t>Open the matching category - not the homepage.</a:t>
            </a:r>
            <a:endParaRPr lang="zh-CN" altLang="en-US" sz="12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202"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11</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978323942"/>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06" name="Rectangle"/>
          <p:cNvSpPr>
            <a:spLocks/>
          </p:cNvSpPr>
          <p:nvPr/>
        </p:nvSpPr>
        <p:spPr>
          <a:xfrm rot="0">
            <a:off x="609600" y="323849"/>
            <a:ext cx="314324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 · SEARCH AD &amp; NEGATIVES</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207"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The ad promises relevance, trust and an easy order.</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08"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209" name="Rounded rectangle"/>
          <p:cNvSpPr>
            <a:spLocks/>
          </p:cNvSpPr>
          <p:nvPr/>
        </p:nvSpPr>
        <p:spPr>
          <a:xfrm rot="0">
            <a:off x="685800" y="1619250"/>
            <a:ext cx="7239000" cy="4095750"/>
          </a:xfrm>
          <a:prstGeom prst="roundRect">
            <a:avLst>
              <a:gd name="adj" fmla="val 2791"/>
            </a:avLst>
          </a:prstGeom>
          <a:solidFill>
            <a:srgbClr val="F6F9FC"/>
          </a:solidFill>
          <a:ln w="9525" cmpd="sng" cap="flat">
            <a:solidFill>
              <a:srgbClr val="D6E4EC"/>
            </a:solidFill>
            <a:prstDash val="solid"/>
            <a:round/>
          </a:ln>
        </p:spPr>
      </p:sp>
      <p:sp>
        <p:nvSpPr>
          <p:cNvPr id="210" name="Rectangle"/>
          <p:cNvSpPr>
            <a:spLocks/>
          </p:cNvSpPr>
          <p:nvPr/>
        </p:nvSpPr>
        <p:spPr>
          <a:xfrm rot="0">
            <a:off x="971550" y="1876424"/>
            <a:ext cx="619125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1" i="0" u="none" strike="noStrike" kern="1200" cap="none" spc="0" baseline="0">
                <a:solidFill>
                  <a:srgbClr val="168FC7"/>
                </a:solidFill>
                <a:latin typeface="Calibri" pitchFamily="0" charset="0"/>
                <a:ea typeface="Calibri" pitchFamily="0" charset="0"/>
                <a:cs typeface="Calibri" pitchFamily="0" charset="0"/>
              </a:rPr>
              <a:t>Responsive Search Ad · Fashion Accessories</a:t>
            </a:r>
            <a:endParaRPr lang="zh-CN" altLang="en-US" sz="1350" b="1" i="0" u="none" strike="noStrike" kern="1200" cap="none" spc="0" baseline="0">
              <a:solidFill>
                <a:srgbClr val="168FC7"/>
              </a:solidFill>
              <a:latin typeface="Calibri" pitchFamily="0" charset="0"/>
              <a:ea typeface="Calibri" pitchFamily="0" charset="0"/>
              <a:cs typeface="Calibri" pitchFamily="0" charset="0"/>
            </a:endParaRPr>
          </a:p>
        </p:txBody>
      </p:sp>
      <p:sp>
        <p:nvSpPr>
          <p:cNvPr id="211" name="Rectangle"/>
          <p:cNvSpPr>
            <a:spLocks/>
          </p:cNvSpPr>
          <p:nvPr/>
        </p:nvSpPr>
        <p:spPr>
          <a:xfrm rot="0">
            <a:off x="971550" y="2333625"/>
            <a:ext cx="1428750" cy="238125"/>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25" b="1" i="0" u="none" strike="noStrike" kern="1200" cap="none" spc="0" baseline="0">
                <a:solidFill>
                  <a:srgbClr val="5D7184"/>
                </a:solidFill>
                <a:latin typeface="Calibri" pitchFamily="0" charset="0"/>
                <a:ea typeface="Calibri" pitchFamily="0" charset="0"/>
                <a:cs typeface="Calibri" pitchFamily="0" charset="0"/>
              </a:rPr>
              <a:t>Headlines</a:t>
            </a:r>
            <a:endParaRPr lang="zh-CN" altLang="en-US" sz="1125" b="1" i="0" u="none" strike="noStrike" kern="1200" cap="none" spc="0" baseline="0">
              <a:solidFill>
                <a:srgbClr val="5D7184"/>
              </a:solidFill>
              <a:latin typeface="Calibri" pitchFamily="0" charset="0"/>
              <a:ea typeface="Calibri" pitchFamily="0" charset="0"/>
              <a:cs typeface="Calibri" pitchFamily="0" charset="0"/>
            </a:endParaRPr>
          </a:p>
        </p:txBody>
      </p:sp>
      <p:sp>
        <p:nvSpPr>
          <p:cNvPr id="212" name="Rectangle"/>
          <p:cNvSpPr>
            <a:spLocks/>
          </p:cNvSpPr>
          <p:nvPr/>
        </p:nvSpPr>
        <p:spPr>
          <a:xfrm rot="0">
            <a:off x="971550" y="2686050"/>
            <a:ext cx="571500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1. Shop Trendy Accessories</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13" name="Rectangle"/>
          <p:cNvSpPr>
            <a:spLocks/>
          </p:cNvSpPr>
          <p:nvPr/>
        </p:nvSpPr>
        <p:spPr>
          <a:xfrm rot="0">
            <a:off x="971550" y="3086100"/>
            <a:ext cx="571500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2. Watches &amp; Jewelry Online</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14" name="Rectangle"/>
          <p:cNvSpPr>
            <a:spLocks/>
          </p:cNvSpPr>
          <p:nvPr/>
        </p:nvSpPr>
        <p:spPr>
          <a:xfrm rot="0">
            <a:off x="971550" y="3486150"/>
            <a:ext cx="571500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3. Style Finds Across Pakistan</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15" name="Rectangle"/>
          <p:cNvSpPr>
            <a:spLocks/>
          </p:cNvSpPr>
          <p:nvPr/>
        </p:nvSpPr>
        <p:spPr>
          <a:xfrm rot="0">
            <a:off x="971550" y="3886200"/>
            <a:ext cx="571500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4. Easy Ordering &amp; Delivery</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16" name="Rectangle"/>
          <p:cNvSpPr>
            <a:spLocks/>
          </p:cNvSpPr>
          <p:nvPr/>
        </p:nvSpPr>
        <p:spPr>
          <a:xfrm rot="0">
            <a:off x="971550" y="4286250"/>
            <a:ext cx="571500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5. Discover Your Next Favorite</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17" name="Rectangle"/>
          <p:cNvSpPr>
            <a:spLocks/>
          </p:cNvSpPr>
          <p:nvPr/>
        </p:nvSpPr>
        <p:spPr>
          <a:xfrm rot="0">
            <a:off x="971550" y="4810125"/>
            <a:ext cx="1428750" cy="238124"/>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25" b="1" i="0" u="none" strike="noStrike" kern="1200" cap="none" spc="0" baseline="0">
                <a:solidFill>
                  <a:srgbClr val="5D7184"/>
                </a:solidFill>
                <a:latin typeface="Calibri" pitchFamily="0" charset="0"/>
                <a:ea typeface="Calibri" pitchFamily="0" charset="0"/>
                <a:cs typeface="Calibri" pitchFamily="0" charset="0"/>
              </a:rPr>
              <a:t>Descriptions</a:t>
            </a:r>
            <a:endParaRPr lang="zh-CN" altLang="en-US" sz="1125" b="1" i="0" u="none" strike="noStrike" kern="1200" cap="none" spc="0" baseline="0">
              <a:solidFill>
                <a:srgbClr val="5D7184"/>
              </a:solidFill>
              <a:latin typeface="Calibri" pitchFamily="0" charset="0"/>
              <a:ea typeface="Calibri" pitchFamily="0" charset="0"/>
              <a:cs typeface="Calibri" pitchFamily="0" charset="0"/>
            </a:endParaRPr>
          </a:p>
        </p:txBody>
      </p:sp>
      <p:sp>
        <p:nvSpPr>
          <p:cNvPr id="218" name="Rectangle"/>
          <p:cNvSpPr>
            <a:spLocks/>
          </p:cNvSpPr>
          <p:nvPr/>
        </p:nvSpPr>
        <p:spPr>
          <a:xfrm rot="0">
            <a:off x="971550" y="5095875"/>
            <a:ext cx="638175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0" i="0" u="none" strike="noStrike" kern="1200" cap="none" spc="0" baseline="0">
                <a:solidFill>
                  <a:srgbClr val="183B56"/>
                </a:solidFill>
                <a:latin typeface="Calibri" pitchFamily="0" charset="0"/>
                <a:ea typeface="Calibri" pitchFamily="0" charset="0"/>
                <a:cs typeface="Calibri" pitchFamily="0" charset="0"/>
              </a:rPr>
              <a:t>Shop watches, jewelry and useful style finds. Order online with easy support.</a:t>
            </a:r>
            <a:endParaRPr lang="zh-CN" altLang="en-US" sz="1275" b="0" i="0" u="none" strike="noStrike" kern="1200" cap="none" spc="0" baseline="0">
              <a:solidFill>
                <a:srgbClr val="183B56"/>
              </a:solidFill>
              <a:latin typeface="Calibri" pitchFamily="0" charset="0"/>
              <a:ea typeface="Calibri" pitchFamily="0" charset="0"/>
              <a:cs typeface="Calibri" pitchFamily="0" charset="0"/>
            </a:endParaRPr>
          </a:p>
        </p:txBody>
      </p:sp>
      <p:sp>
        <p:nvSpPr>
          <p:cNvPr id="219" name="Rectangle"/>
          <p:cNvSpPr>
            <a:spLocks/>
          </p:cNvSpPr>
          <p:nvPr/>
        </p:nvSpPr>
        <p:spPr>
          <a:xfrm rot="0">
            <a:off x="971550" y="5381625"/>
            <a:ext cx="638175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0" i="0" u="none" strike="noStrike" kern="1200" cap="none" spc="0" baseline="0">
                <a:solidFill>
                  <a:srgbClr val="183B56"/>
                </a:solidFill>
                <a:latin typeface="Calibri" pitchFamily="0" charset="0"/>
                <a:ea typeface="Calibri" pitchFamily="0" charset="0"/>
                <a:cs typeface="Calibri" pitchFamily="0" charset="0"/>
              </a:rPr>
              <a:t>Discover affordable accessories selected for everyday style and gifting.</a:t>
            </a:r>
            <a:endParaRPr lang="zh-CN" altLang="en-US" sz="1275" b="0" i="0" u="none" strike="noStrike" kern="1200" cap="none" spc="0" baseline="0">
              <a:solidFill>
                <a:srgbClr val="183B56"/>
              </a:solidFill>
              <a:latin typeface="Calibri" pitchFamily="0" charset="0"/>
              <a:ea typeface="Calibri" pitchFamily="0" charset="0"/>
              <a:cs typeface="Calibri" pitchFamily="0" charset="0"/>
            </a:endParaRPr>
          </a:p>
        </p:txBody>
      </p:sp>
      <p:sp>
        <p:nvSpPr>
          <p:cNvPr id="220" name="Rectangle"/>
          <p:cNvSpPr>
            <a:spLocks/>
          </p:cNvSpPr>
          <p:nvPr/>
        </p:nvSpPr>
        <p:spPr>
          <a:xfrm rot="0">
            <a:off x="8382000" y="1752599"/>
            <a:ext cx="2571749" cy="238125"/>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25" b="1" i="0" u="none" strike="noStrike" kern="1200" cap="none" spc="0" baseline="0">
                <a:solidFill>
                  <a:srgbClr val="F26B5B"/>
                </a:solidFill>
                <a:latin typeface="Calibri" pitchFamily="0" charset="0"/>
                <a:ea typeface="Calibri" pitchFamily="0" charset="0"/>
                <a:cs typeface="Calibri" pitchFamily="0" charset="0"/>
              </a:rPr>
              <a:t>NEGATIVE KEYWORDS</a:t>
            </a:r>
            <a:endParaRPr lang="zh-CN" altLang="en-US" sz="1125" b="1" i="0" u="none" strike="noStrike" kern="1200" cap="none" spc="0" baseline="0">
              <a:solidFill>
                <a:srgbClr val="F26B5B"/>
              </a:solidFill>
              <a:latin typeface="Calibri" pitchFamily="0" charset="0"/>
              <a:ea typeface="Calibri" pitchFamily="0" charset="0"/>
              <a:cs typeface="Calibri" pitchFamily="0" charset="0"/>
            </a:endParaRPr>
          </a:p>
        </p:txBody>
      </p:sp>
      <p:sp>
        <p:nvSpPr>
          <p:cNvPr id="221" name="Rounded rectangle"/>
          <p:cNvSpPr>
            <a:spLocks/>
          </p:cNvSpPr>
          <p:nvPr/>
        </p:nvSpPr>
        <p:spPr>
          <a:xfrm rot="0">
            <a:off x="8382000" y="2200275"/>
            <a:ext cx="2476500" cy="409575"/>
          </a:xfrm>
          <a:prstGeom prst="roundRect">
            <a:avLst>
              <a:gd name="adj" fmla="val 27907"/>
            </a:avLst>
          </a:prstGeom>
          <a:solidFill>
            <a:srgbClr val="FFFFFF"/>
          </a:solidFill>
          <a:ln w="9525" cmpd="sng" cap="flat">
            <a:solidFill>
              <a:srgbClr val="D6E4EC"/>
            </a:solidFill>
            <a:prstDash val="solid"/>
            <a:round/>
          </a:ln>
        </p:spPr>
      </p:sp>
      <p:sp>
        <p:nvSpPr>
          <p:cNvPr id="222" name="Rectangle"/>
          <p:cNvSpPr>
            <a:spLocks/>
          </p:cNvSpPr>
          <p:nvPr/>
        </p:nvSpPr>
        <p:spPr>
          <a:xfrm rot="0">
            <a:off x="8572500" y="2257425"/>
            <a:ext cx="209549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free</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23" name="Rounded rectangle"/>
          <p:cNvSpPr>
            <a:spLocks/>
          </p:cNvSpPr>
          <p:nvPr/>
        </p:nvSpPr>
        <p:spPr>
          <a:xfrm rot="0">
            <a:off x="8382000" y="2771775"/>
            <a:ext cx="2476500" cy="409574"/>
          </a:xfrm>
          <a:prstGeom prst="roundRect">
            <a:avLst>
              <a:gd name="adj" fmla="val 27907"/>
            </a:avLst>
          </a:prstGeom>
          <a:solidFill>
            <a:srgbClr val="FFFFFF"/>
          </a:solidFill>
          <a:ln w="9525" cmpd="sng" cap="flat">
            <a:solidFill>
              <a:srgbClr val="D6E4EC"/>
            </a:solidFill>
            <a:prstDash val="solid"/>
            <a:round/>
          </a:ln>
        </p:spPr>
      </p:sp>
      <p:sp>
        <p:nvSpPr>
          <p:cNvPr id="224" name="Rectangle"/>
          <p:cNvSpPr>
            <a:spLocks/>
          </p:cNvSpPr>
          <p:nvPr/>
        </p:nvSpPr>
        <p:spPr>
          <a:xfrm rot="0">
            <a:off x="8572500" y="2828924"/>
            <a:ext cx="209549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jobs</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25" name="Rounded rectangle"/>
          <p:cNvSpPr>
            <a:spLocks/>
          </p:cNvSpPr>
          <p:nvPr/>
        </p:nvSpPr>
        <p:spPr>
          <a:xfrm rot="0">
            <a:off x="8382000" y="3343275"/>
            <a:ext cx="2476500" cy="409574"/>
          </a:xfrm>
          <a:prstGeom prst="roundRect">
            <a:avLst>
              <a:gd name="adj" fmla="val 27907"/>
            </a:avLst>
          </a:prstGeom>
          <a:solidFill>
            <a:srgbClr val="FFFFFF"/>
          </a:solidFill>
          <a:ln w="9525" cmpd="sng" cap="flat">
            <a:solidFill>
              <a:srgbClr val="D6E4EC"/>
            </a:solidFill>
            <a:prstDash val="solid"/>
            <a:round/>
          </a:ln>
        </p:spPr>
      </p:sp>
      <p:sp>
        <p:nvSpPr>
          <p:cNvPr id="226" name="Rectangle"/>
          <p:cNvSpPr>
            <a:spLocks/>
          </p:cNvSpPr>
          <p:nvPr/>
        </p:nvSpPr>
        <p:spPr>
          <a:xfrm rot="0">
            <a:off x="8572500" y="3400425"/>
            <a:ext cx="209549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wholesale</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27" name="Rounded rectangle"/>
          <p:cNvSpPr>
            <a:spLocks/>
          </p:cNvSpPr>
          <p:nvPr/>
        </p:nvSpPr>
        <p:spPr>
          <a:xfrm rot="0">
            <a:off x="8382000" y="3914775"/>
            <a:ext cx="2476500" cy="409574"/>
          </a:xfrm>
          <a:prstGeom prst="roundRect">
            <a:avLst>
              <a:gd name="adj" fmla="val 27907"/>
            </a:avLst>
          </a:prstGeom>
          <a:solidFill>
            <a:srgbClr val="FFFFFF"/>
          </a:solidFill>
          <a:ln w="9525" cmpd="sng" cap="flat">
            <a:solidFill>
              <a:srgbClr val="D6E4EC"/>
            </a:solidFill>
            <a:prstDash val="solid"/>
            <a:round/>
          </a:ln>
        </p:spPr>
      </p:sp>
      <p:sp>
        <p:nvSpPr>
          <p:cNvPr id="228" name="Rectangle"/>
          <p:cNvSpPr>
            <a:spLocks/>
          </p:cNvSpPr>
          <p:nvPr/>
        </p:nvSpPr>
        <p:spPr>
          <a:xfrm rot="0">
            <a:off x="8572500" y="3971925"/>
            <a:ext cx="209549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repair</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29" name="Rounded rectangle"/>
          <p:cNvSpPr>
            <a:spLocks/>
          </p:cNvSpPr>
          <p:nvPr/>
        </p:nvSpPr>
        <p:spPr>
          <a:xfrm rot="0">
            <a:off x="8382000" y="4486275"/>
            <a:ext cx="2476500" cy="409574"/>
          </a:xfrm>
          <a:prstGeom prst="roundRect">
            <a:avLst>
              <a:gd name="adj" fmla="val 27907"/>
            </a:avLst>
          </a:prstGeom>
          <a:solidFill>
            <a:srgbClr val="FFFFFF"/>
          </a:solidFill>
          <a:ln w="9525" cmpd="sng" cap="flat">
            <a:solidFill>
              <a:srgbClr val="D6E4EC"/>
            </a:solidFill>
            <a:prstDash val="solid"/>
            <a:round/>
          </a:ln>
        </p:spPr>
      </p:sp>
      <p:sp>
        <p:nvSpPr>
          <p:cNvPr id="230" name="Rectangle"/>
          <p:cNvSpPr>
            <a:spLocks/>
          </p:cNvSpPr>
          <p:nvPr/>
        </p:nvSpPr>
        <p:spPr>
          <a:xfrm rot="0">
            <a:off x="8572500" y="4543425"/>
            <a:ext cx="209549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used</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32"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12</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574188989"/>
      </p:ext>
    </p:extLst>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36" name="Rectangle"/>
          <p:cNvSpPr>
            <a:spLocks/>
          </p:cNvSpPr>
          <p:nvPr/>
        </p:nvSpPr>
        <p:spPr>
          <a:xfrm rot="0">
            <a:off x="609600" y="323849"/>
            <a:ext cx="314324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 SEO PLAN</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237"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SEO turns product pages into useful answers.</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38"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239" name="Rectangle"/>
          <p:cNvSpPr>
            <a:spLocks/>
          </p:cNvSpPr>
          <p:nvPr/>
        </p:nvSpPr>
        <p:spPr>
          <a:xfrm rot="0">
            <a:off x="742949" y="1724025"/>
            <a:ext cx="238124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1" i="0" u="none" strike="noStrike" kern="1200" cap="none" spc="0" baseline="0">
                <a:solidFill>
                  <a:srgbClr val="168FC7"/>
                </a:solidFill>
                <a:latin typeface="Calibri" pitchFamily="0" charset="0"/>
                <a:ea typeface="Calibri" pitchFamily="0" charset="0"/>
                <a:cs typeface="Calibri" pitchFamily="0" charset="0"/>
              </a:rPr>
              <a:t>ON-PAGE</a:t>
            </a:r>
            <a:endParaRPr lang="zh-CN" altLang="en-US" sz="1275" b="1" i="0" u="none" strike="noStrike" kern="1200" cap="none" spc="0" baseline="0">
              <a:solidFill>
                <a:srgbClr val="168FC7"/>
              </a:solidFill>
              <a:latin typeface="Calibri" pitchFamily="0" charset="0"/>
              <a:ea typeface="Calibri" pitchFamily="0" charset="0"/>
              <a:cs typeface="Calibri" pitchFamily="0" charset="0"/>
            </a:endParaRPr>
          </a:p>
        </p:txBody>
      </p:sp>
      <p:sp>
        <p:nvSpPr>
          <p:cNvPr id="240" name="Rectangle"/>
          <p:cNvSpPr>
            <a:spLocks/>
          </p:cNvSpPr>
          <p:nvPr/>
        </p:nvSpPr>
        <p:spPr>
          <a:xfrm rot="0">
            <a:off x="781050" y="2152650"/>
            <a:ext cx="533400" cy="3429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1" i="0" u="none" strike="noStrike" kern="1200" cap="none" spc="0" baseline="0">
                <a:solidFill>
                  <a:srgbClr val="F26B5B"/>
                </a:solidFill>
                <a:latin typeface="Calibri" pitchFamily="0" charset="0"/>
                <a:ea typeface="Calibri" pitchFamily="0" charset="0"/>
                <a:cs typeface="Calibri" pitchFamily="0" charset="0"/>
              </a:rPr>
              <a:t>01</a:t>
            </a:r>
            <a:endParaRPr lang="zh-CN" altLang="en-US" sz="1875" b="1" i="0" u="none" strike="noStrike" kern="1200" cap="none" spc="0" baseline="0">
              <a:solidFill>
                <a:srgbClr val="F26B5B"/>
              </a:solidFill>
              <a:latin typeface="Calibri" pitchFamily="0" charset="0"/>
              <a:ea typeface="Calibri" pitchFamily="0" charset="0"/>
              <a:cs typeface="Calibri" pitchFamily="0" charset="0"/>
            </a:endParaRPr>
          </a:p>
        </p:txBody>
      </p:sp>
      <p:sp>
        <p:nvSpPr>
          <p:cNvPr id="241" name="Rectangle"/>
          <p:cNvSpPr>
            <a:spLocks/>
          </p:cNvSpPr>
          <p:nvPr/>
        </p:nvSpPr>
        <p:spPr>
          <a:xfrm rot="0">
            <a:off x="1524000" y="2152650"/>
            <a:ext cx="4095750" cy="304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75" b="1" i="0" u="none" strike="noStrike" kern="1200" cap="none" spc="0" baseline="0">
                <a:solidFill>
                  <a:srgbClr val="102A43"/>
                </a:solidFill>
                <a:latin typeface="Calibri" pitchFamily="0" charset="0"/>
                <a:ea typeface="Calibri" pitchFamily="0" charset="0"/>
                <a:cs typeface="Calibri" pitchFamily="0" charset="0"/>
              </a:rPr>
              <a:t>Search-friendly category titles</a:t>
            </a:r>
            <a:endParaRPr lang="zh-CN" altLang="en-US" sz="15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242" name="Rectangle"/>
          <p:cNvSpPr>
            <a:spLocks/>
          </p:cNvSpPr>
          <p:nvPr/>
        </p:nvSpPr>
        <p:spPr>
          <a:xfrm rot="0">
            <a:off x="1524000" y="2505075"/>
            <a:ext cx="4095750" cy="333374"/>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0" i="0" u="none" strike="noStrike" kern="1200" cap="none" spc="0" baseline="0">
                <a:solidFill>
                  <a:srgbClr val="5D7184"/>
                </a:solidFill>
                <a:latin typeface="Calibri" pitchFamily="0" charset="0"/>
                <a:ea typeface="Calibri" pitchFamily="0" charset="0"/>
                <a:cs typeface="Calibri" pitchFamily="0" charset="0"/>
              </a:rPr>
              <a:t>e.g. Women’s Watches Online in Pakistan</a:t>
            </a:r>
            <a:endParaRPr lang="zh-CN" altLang="en-US" sz="1275" b="0" i="0" u="none" strike="noStrike" kern="1200" cap="none" spc="0" baseline="0">
              <a:solidFill>
                <a:srgbClr val="5D7184"/>
              </a:solidFill>
              <a:latin typeface="Calibri" pitchFamily="0" charset="0"/>
              <a:ea typeface="Calibri" pitchFamily="0" charset="0"/>
              <a:cs typeface="Calibri" pitchFamily="0" charset="0"/>
            </a:endParaRPr>
          </a:p>
        </p:txBody>
      </p:sp>
      <p:sp>
        <p:nvSpPr>
          <p:cNvPr id="243" name="Rectangle"/>
          <p:cNvSpPr>
            <a:spLocks/>
          </p:cNvSpPr>
          <p:nvPr/>
        </p:nvSpPr>
        <p:spPr>
          <a:xfrm rot="0">
            <a:off x="781050" y="3219450"/>
            <a:ext cx="533400" cy="3429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1" i="0" u="none" strike="noStrike" kern="1200" cap="none" spc="0" baseline="0">
                <a:solidFill>
                  <a:srgbClr val="F26B5B"/>
                </a:solidFill>
                <a:latin typeface="Calibri" pitchFamily="0" charset="0"/>
                <a:ea typeface="Calibri" pitchFamily="0" charset="0"/>
                <a:cs typeface="Calibri" pitchFamily="0" charset="0"/>
              </a:rPr>
              <a:t>02</a:t>
            </a:r>
            <a:endParaRPr lang="zh-CN" altLang="en-US" sz="1875" b="1" i="0" u="none" strike="noStrike" kern="1200" cap="none" spc="0" baseline="0">
              <a:solidFill>
                <a:srgbClr val="F26B5B"/>
              </a:solidFill>
              <a:latin typeface="Calibri" pitchFamily="0" charset="0"/>
              <a:ea typeface="Calibri" pitchFamily="0" charset="0"/>
              <a:cs typeface="Calibri" pitchFamily="0" charset="0"/>
            </a:endParaRPr>
          </a:p>
        </p:txBody>
      </p:sp>
      <p:sp>
        <p:nvSpPr>
          <p:cNvPr id="244" name="Rectangle"/>
          <p:cNvSpPr>
            <a:spLocks/>
          </p:cNvSpPr>
          <p:nvPr/>
        </p:nvSpPr>
        <p:spPr>
          <a:xfrm rot="0">
            <a:off x="1524000" y="3219450"/>
            <a:ext cx="4095750" cy="304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75" b="1" i="0" u="none" strike="noStrike" kern="1200" cap="none" spc="0" baseline="0">
                <a:solidFill>
                  <a:srgbClr val="102A43"/>
                </a:solidFill>
                <a:latin typeface="Calibri" pitchFamily="0" charset="0"/>
                <a:ea typeface="Calibri" pitchFamily="0" charset="0"/>
                <a:cs typeface="Calibri" pitchFamily="0" charset="0"/>
              </a:rPr>
              <a:t>Unique product descriptions</a:t>
            </a:r>
            <a:endParaRPr lang="zh-CN" altLang="en-US" sz="15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245" name="Rectangle"/>
          <p:cNvSpPr>
            <a:spLocks/>
          </p:cNvSpPr>
          <p:nvPr/>
        </p:nvSpPr>
        <p:spPr>
          <a:xfrm rot="0">
            <a:off x="1524000" y="3571875"/>
            <a:ext cx="4095750" cy="333374"/>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0" i="0" u="none" strike="noStrike" kern="1200" cap="none" spc="0" baseline="0">
                <a:solidFill>
                  <a:srgbClr val="5D7184"/>
                </a:solidFill>
                <a:latin typeface="Calibri" pitchFamily="0" charset="0"/>
                <a:ea typeface="Calibri" pitchFamily="0" charset="0"/>
                <a:cs typeface="Calibri" pitchFamily="0" charset="0"/>
              </a:rPr>
              <a:t>Benefits, use, size, delivery and care</a:t>
            </a:r>
            <a:endParaRPr lang="zh-CN" altLang="en-US" sz="1275" b="0" i="0" u="none" strike="noStrike" kern="1200" cap="none" spc="0" baseline="0">
              <a:solidFill>
                <a:srgbClr val="5D7184"/>
              </a:solidFill>
              <a:latin typeface="Calibri" pitchFamily="0" charset="0"/>
              <a:ea typeface="Calibri" pitchFamily="0" charset="0"/>
              <a:cs typeface="Calibri" pitchFamily="0" charset="0"/>
            </a:endParaRPr>
          </a:p>
        </p:txBody>
      </p:sp>
      <p:sp>
        <p:nvSpPr>
          <p:cNvPr id="246" name="Rectangle"/>
          <p:cNvSpPr>
            <a:spLocks/>
          </p:cNvSpPr>
          <p:nvPr/>
        </p:nvSpPr>
        <p:spPr>
          <a:xfrm rot="0">
            <a:off x="781050" y="4286250"/>
            <a:ext cx="533400" cy="3429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1" i="0" u="none" strike="noStrike" kern="1200" cap="none" spc="0" baseline="0">
                <a:solidFill>
                  <a:srgbClr val="F26B5B"/>
                </a:solidFill>
                <a:latin typeface="Calibri" pitchFamily="0" charset="0"/>
                <a:ea typeface="Calibri" pitchFamily="0" charset="0"/>
                <a:cs typeface="Calibri" pitchFamily="0" charset="0"/>
              </a:rPr>
              <a:t>03</a:t>
            </a:r>
            <a:endParaRPr lang="zh-CN" altLang="en-US" sz="1875" b="1" i="0" u="none" strike="noStrike" kern="1200" cap="none" spc="0" baseline="0">
              <a:solidFill>
                <a:srgbClr val="F26B5B"/>
              </a:solidFill>
              <a:latin typeface="Calibri" pitchFamily="0" charset="0"/>
              <a:ea typeface="Calibri" pitchFamily="0" charset="0"/>
              <a:cs typeface="Calibri" pitchFamily="0" charset="0"/>
            </a:endParaRPr>
          </a:p>
        </p:txBody>
      </p:sp>
      <p:sp>
        <p:nvSpPr>
          <p:cNvPr id="247" name="Rectangle"/>
          <p:cNvSpPr>
            <a:spLocks/>
          </p:cNvSpPr>
          <p:nvPr/>
        </p:nvSpPr>
        <p:spPr>
          <a:xfrm rot="0">
            <a:off x="1524000" y="4286250"/>
            <a:ext cx="4095750" cy="304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575" b="1" i="0" u="none" strike="noStrike" kern="1200" cap="none" spc="0" baseline="0">
                <a:solidFill>
                  <a:srgbClr val="102A43"/>
                </a:solidFill>
                <a:latin typeface="Calibri" pitchFamily="0" charset="0"/>
                <a:ea typeface="Calibri" pitchFamily="0" charset="0"/>
                <a:cs typeface="Calibri" pitchFamily="0" charset="0"/>
              </a:rPr>
              <a:t>Trust-rich product pages</a:t>
            </a:r>
            <a:endParaRPr lang="zh-CN" altLang="en-US" sz="1575" b="1" i="0" u="none" strike="noStrike" kern="1200" cap="none" spc="0" baseline="0">
              <a:solidFill>
                <a:srgbClr val="102A43"/>
              </a:solidFill>
              <a:latin typeface="Calibri" pitchFamily="0" charset="0"/>
              <a:ea typeface="Calibri" pitchFamily="0" charset="0"/>
              <a:cs typeface="Calibri" pitchFamily="0" charset="0"/>
            </a:endParaRPr>
          </a:p>
        </p:txBody>
      </p:sp>
      <p:sp>
        <p:nvSpPr>
          <p:cNvPr id="248" name="Rectangle"/>
          <p:cNvSpPr>
            <a:spLocks/>
          </p:cNvSpPr>
          <p:nvPr/>
        </p:nvSpPr>
        <p:spPr>
          <a:xfrm rot="0">
            <a:off x="1524000" y="4638675"/>
            <a:ext cx="4095750" cy="333374"/>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75" b="0" i="0" u="none" strike="noStrike" kern="1200" cap="none" spc="0" baseline="0">
                <a:solidFill>
                  <a:srgbClr val="5D7184"/>
                </a:solidFill>
                <a:latin typeface="Calibri" pitchFamily="0" charset="0"/>
                <a:ea typeface="Calibri" pitchFamily="0" charset="0"/>
                <a:cs typeface="Calibri" pitchFamily="0" charset="0"/>
              </a:rPr>
              <a:t>Clear photos, FAQs, reviews and WhatsApp CTA</a:t>
            </a:r>
            <a:endParaRPr lang="zh-CN" altLang="en-US" sz="1275" b="0" i="0" u="none" strike="noStrike" kern="1200" cap="none" spc="0" baseline="0">
              <a:solidFill>
                <a:srgbClr val="5D7184"/>
              </a:solidFill>
              <a:latin typeface="Calibri" pitchFamily="0" charset="0"/>
              <a:ea typeface="Calibri" pitchFamily="0" charset="0"/>
              <a:cs typeface="Calibri" pitchFamily="0" charset="0"/>
            </a:endParaRPr>
          </a:p>
        </p:txBody>
      </p:sp>
      <p:sp>
        <p:nvSpPr>
          <p:cNvPr id="249" name="Rounded rectangle"/>
          <p:cNvSpPr>
            <a:spLocks/>
          </p:cNvSpPr>
          <p:nvPr/>
        </p:nvSpPr>
        <p:spPr>
          <a:xfrm rot="0">
            <a:off x="6400800" y="1752599"/>
            <a:ext cx="4476750" cy="3238500"/>
          </a:xfrm>
          <a:prstGeom prst="roundRect">
            <a:avLst>
              <a:gd name="adj" fmla="val 3527"/>
            </a:avLst>
          </a:prstGeom>
          <a:solidFill>
            <a:srgbClr val="102A43"/>
          </a:solidFill>
          <a:ln w="9525" cmpd="sng" cap="flat">
            <a:solidFill>
              <a:srgbClr val="102A43"/>
            </a:solidFill>
            <a:prstDash val="solid"/>
            <a:round/>
          </a:ln>
        </p:spPr>
      </p:sp>
      <p:sp>
        <p:nvSpPr>
          <p:cNvPr id="250" name="Rectangle"/>
          <p:cNvSpPr>
            <a:spLocks/>
          </p:cNvSpPr>
          <p:nvPr/>
        </p:nvSpPr>
        <p:spPr>
          <a:xfrm rot="0">
            <a:off x="6724650" y="2095500"/>
            <a:ext cx="2476500" cy="2476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9EDBF0"/>
                </a:solidFill>
                <a:latin typeface="Calibri" pitchFamily="0" charset="0"/>
                <a:ea typeface="Calibri" pitchFamily="0" charset="0"/>
                <a:cs typeface="Calibri" pitchFamily="0" charset="0"/>
              </a:rPr>
              <a:t>OFF-PAGE IDEA</a:t>
            </a:r>
            <a:endParaRPr lang="zh-CN" altLang="en-US" sz="1200" b="1" i="0" u="none" strike="noStrike" kern="1200" cap="none" spc="0" baseline="0">
              <a:solidFill>
                <a:srgbClr val="9EDBF0"/>
              </a:solidFill>
              <a:latin typeface="Calibri" pitchFamily="0" charset="0"/>
              <a:ea typeface="Calibri" pitchFamily="0" charset="0"/>
              <a:cs typeface="Calibri" pitchFamily="0" charset="0"/>
            </a:endParaRPr>
          </a:p>
        </p:txBody>
      </p:sp>
      <p:sp>
        <p:nvSpPr>
          <p:cNvPr id="251" name="Rectangle"/>
          <p:cNvSpPr>
            <a:spLocks/>
          </p:cNvSpPr>
          <p:nvPr/>
        </p:nvSpPr>
        <p:spPr>
          <a:xfrm rot="0">
            <a:off x="6724650" y="2533650"/>
            <a:ext cx="3524249" cy="5524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325" b="1" i="0" u="none" strike="noStrike" kern="1200" cap="none" spc="0" baseline="0">
                <a:solidFill>
                  <a:srgbClr val="FFFFFF"/>
                </a:solidFill>
                <a:latin typeface="Calibri" pitchFamily="0" charset="0"/>
                <a:ea typeface="Calibri" pitchFamily="0" charset="0"/>
                <a:cs typeface="Calibri" pitchFamily="0" charset="0"/>
              </a:rPr>
              <a:t>Verified customer reviews</a:t>
            </a:r>
            <a:endParaRPr lang="zh-CN" altLang="en-US" sz="2325" b="1" i="0" u="none" strike="noStrike" kern="1200" cap="none" spc="0" baseline="0">
              <a:solidFill>
                <a:srgbClr val="FFFFFF"/>
              </a:solidFill>
              <a:latin typeface="Calibri" pitchFamily="0" charset="0"/>
              <a:ea typeface="Calibri" pitchFamily="0" charset="0"/>
              <a:cs typeface="Calibri" pitchFamily="0" charset="0"/>
            </a:endParaRPr>
          </a:p>
        </p:txBody>
      </p:sp>
      <p:sp>
        <p:nvSpPr>
          <p:cNvPr id="252" name="Rectangle"/>
          <p:cNvSpPr>
            <a:spLocks/>
          </p:cNvSpPr>
          <p:nvPr/>
        </p:nvSpPr>
        <p:spPr>
          <a:xfrm rot="0">
            <a:off x="6724650" y="3352800"/>
            <a:ext cx="3524249" cy="10668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0" i="0" u="none" strike="noStrike" kern="1200" cap="none" spc="0" baseline="0">
                <a:solidFill>
                  <a:srgbClr val="DDEAF2"/>
                </a:solidFill>
                <a:latin typeface="Calibri" pitchFamily="0" charset="0"/>
                <a:ea typeface="Calibri" pitchFamily="0" charset="0"/>
                <a:cs typeface="Calibri" pitchFamily="0" charset="0"/>
              </a:rPr>
              <a:t>Request reviews after delivery and repurpose genuine feedback on Google Business Profile and social pages.</a:t>
            </a:r>
            <a:endParaRPr lang="zh-CN" altLang="en-US" sz="1425" b="0" i="0" u="none" strike="noStrike" kern="1200" cap="none" spc="0" baseline="0">
              <a:solidFill>
                <a:srgbClr val="DDEAF2"/>
              </a:solidFill>
              <a:latin typeface="Calibri" pitchFamily="0" charset="0"/>
              <a:ea typeface="Calibri" pitchFamily="0" charset="0"/>
              <a:cs typeface="Calibri" pitchFamily="0" charset="0"/>
            </a:endParaRPr>
          </a:p>
        </p:txBody>
      </p:sp>
      <p:sp>
        <p:nvSpPr>
          <p:cNvPr id="253" name="Rounded rectangle"/>
          <p:cNvSpPr>
            <a:spLocks/>
          </p:cNvSpPr>
          <p:nvPr/>
        </p:nvSpPr>
        <p:spPr>
          <a:xfrm rot="0">
            <a:off x="6400800" y="5200650"/>
            <a:ext cx="4476750" cy="638175"/>
          </a:xfrm>
          <a:prstGeom prst="roundRect">
            <a:avLst>
              <a:gd name="adj" fmla="val 17912"/>
            </a:avLst>
          </a:prstGeom>
          <a:solidFill>
            <a:srgbClr val="EAF6FB"/>
          </a:solidFill>
          <a:ln w="9525" cmpd="sng" cap="flat">
            <a:solidFill>
              <a:srgbClr val="EAF6FB"/>
            </a:solidFill>
            <a:prstDash val="solid"/>
            <a:round/>
          </a:ln>
        </p:spPr>
      </p:sp>
      <p:sp>
        <p:nvSpPr>
          <p:cNvPr id="254" name="Rectangle"/>
          <p:cNvSpPr>
            <a:spLocks/>
          </p:cNvSpPr>
          <p:nvPr/>
        </p:nvSpPr>
        <p:spPr>
          <a:xfrm rot="0">
            <a:off x="6610350" y="5334000"/>
            <a:ext cx="4048125" cy="36195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SEO goal: Relevant traffic + stronger trust</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56"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13</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1500601775"/>
      </p:ext>
    </p:extLst>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p:cSld>
    <p:bg>
      <p:bgPr>
        <a:solidFill>
          <a:srgbClr val="249E73"/>
        </a:solidFill>
      </p:bgPr>
    </p:bg>
    <p:spTree>
      <p:nvGrpSpPr>
        <p:cNvPr id="1" name=""/>
        <p:cNvGrpSpPr/>
        <p:nvPr/>
      </p:nvGrpSpPr>
      <p:grpSpPr>
        <a:xfrm>
          <a:off x="0" y="0"/>
          <a:ext cx="0" cy="0"/>
          <a:chOff x="0" y="0"/>
          <a:chExt cx="0" cy="0"/>
        </a:xfrm>
      </p:grpSpPr>
      <p:sp>
        <p:nvSpPr>
          <p:cNvPr id="261" name="Rectangle"/>
          <p:cNvSpPr>
            <a:spLocks/>
          </p:cNvSpPr>
          <p:nvPr/>
        </p:nvSpPr>
        <p:spPr>
          <a:xfrm rot="0">
            <a:off x="685800" y="1676400"/>
            <a:ext cx="7524750" cy="8572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750" b="1" i="0" u="none" strike="noStrike" kern="1200" cap="none" spc="0" baseline="0">
                <a:solidFill>
                  <a:srgbClr val="FFFFFF"/>
                </a:solidFill>
                <a:latin typeface="Calibri" pitchFamily="0" charset="0"/>
                <a:ea typeface="Calibri" pitchFamily="0" charset="0"/>
                <a:cs typeface="Calibri" pitchFamily="0" charset="0"/>
              </a:rPr>
              <a:t>Analytics &amp; Client Pitch Lead</a:t>
            </a:r>
            <a:endParaRPr lang="zh-CN" altLang="en-US" sz="3750" b="1" i="0" u="none" strike="noStrike" kern="1200" cap="none" spc="0" baseline="0">
              <a:solidFill>
                <a:srgbClr val="FFFFFF"/>
              </a:solidFill>
              <a:latin typeface="Calibri" pitchFamily="0" charset="0"/>
              <a:ea typeface="Calibri" pitchFamily="0" charset="0"/>
              <a:cs typeface="Calibri" pitchFamily="0" charset="0"/>
            </a:endParaRPr>
          </a:p>
        </p:txBody>
      </p:sp>
      <p:sp>
        <p:nvSpPr>
          <p:cNvPr id="262" name="Rectangle"/>
          <p:cNvSpPr>
            <a:spLocks/>
          </p:cNvSpPr>
          <p:nvPr/>
        </p:nvSpPr>
        <p:spPr>
          <a:xfrm rot="0">
            <a:off x="685800" y="2781300"/>
            <a:ext cx="6858000" cy="8382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75" b="0" i="0" u="none" strike="noStrike" kern="1200" cap="none" spc="0" baseline="0">
                <a:solidFill>
                  <a:srgbClr val="EAF6FB"/>
                </a:solidFill>
                <a:latin typeface="Calibri" pitchFamily="0" charset="0"/>
                <a:ea typeface="Calibri" pitchFamily="0" charset="0"/>
                <a:cs typeface="Calibri" pitchFamily="0" charset="0"/>
              </a:rPr>
              <a:t>Defines what success means, reports it clearly, and turns the plan into a professional offer.</a:t>
            </a:r>
            <a:endParaRPr lang="zh-CN" altLang="en-US" sz="1875" b="0" i="0" u="none" strike="noStrike" kern="1200" cap="none" spc="0" baseline="0">
              <a:solidFill>
                <a:srgbClr val="EAF6FB"/>
              </a:solidFill>
              <a:latin typeface="Calibri" pitchFamily="0" charset="0"/>
              <a:ea typeface="Calibri" pitchFamily="0" charset="0"/>
              <a:cs typeface="Calibri" pitchFamily="0" charset="0"/>
            </a:endParaRPr>
          </a:p>
        </p:txBody>
      </p:sp>
      <p:sp>
        <p:nvSpPr>
          <p:cNvPr id="263" name="Oval"/>
          <p:cNvSpPr>
            <a:spLocks/>
          </p:cNvSpPr>
          <p:nvPr/>
        </p:nvSpPr>
        <p:spPr>
          <a:xfrm rot="0">
            <a:off x="8858250" y="1047750"/>
            <a:ext cx="2095499" cy="2095499"/>
          </a:xfrm>
          <a:prstGeom prst="ellipse"/>
          <a:solidFill>
            <a:srgbClr val="FFFFFF"/>
          </a:solidFill>
          <a:ln w="9525" cmpd="sng" cap="flat">
            <a:solidFill>
              <a:srgbClr val="FFFFFF"/>
            </a:solidFill>
            <a:prstDash val="solid"/>
            <a:round/>
          </a:ln>
        </p:spPr>
      </p:sp>
      <p:sp>
        <p:nvSpPr>
          <p:cNvPr id="264" name="Rectangle"/>
          <p:cNvSpPr>
            <a:spLocks/>
          </p:cNvSpPr>
          <p:nvPr/>
        </p:nvSpPr>
        <p:spPr>
          <a:xfrm rot="0">
            <a:off x="8858250" y="1047750"/>
            <a:ext cx="2095499" cy="2095499"/>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6900" b="1" i="0" u="none" strike="noStrike" kern="1200" cap="none" spc="0" baseline="0">
                <a:solidFill>
                  <a:srgbClr val="249E73"/>
                </a:solidFill>
                <a:latin typeface="Calibri" pitchFamily="0" charset="0"/>
                <a:ea typeface="Calibri" pitchFamily="0" charset="0"/>
                <a:cs typeface="Calibri" pitchFamily="0" charset="0"/>
              </a:rPr>
              <a:t>4</a:t>
            </a:r>
            <a:endParaRPr lang="zh-CN" altLang="en-US" sz="6900" b="1" i="0" u="none" strike="noStrike" kern="1200" cap="none" spc="0" baseline="0">
              <a:solidFill>
                <a:srgbClr val="249E73"/>
              </a:solidFill>
              <a:latin typeface="Calibri" pitchFamily="0" charset="0"/>
              <a:ea typeface="Calibri" pitchFamily="0" charset="0"/>
              <a:cs typeface="Calibri" pitchFamily="0" charset="0"/>
            </a:endParaRPr>
          </a:p>
        </p:txBody>
      </p:sp>
      <p:sp>
        <p:nvSpPr>
          <p:cNvPr id="266"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FFFFFF"/>
                </a:solidFill>
                <a:latin typeface="Calibri" pitchFamily="0" charset="0"/>
                <a:ea typeface="Calibri" pitchFamily="0" charset="0"/>
                <a:cs typeface="Calibri" pitchFamily="0" charset="0"/>
              </a:rPr>
              <a:t>14</a:t>
            </a:r>
            <a:endParaRPr lang="zh-CN" altLang="en-US" sz="750" b="1" i="0" u="none" strike="noStrike" kern="1200" cap="none" spc="0" baseline="0">
              <a:solidFill>
                <a:srgbClr val="FFFFFF"/>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359237296"/>
      </p:ext>
    </p:extLst>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70" name="Rectangle"/>
          <p:cNvSpPr>
            <a:spLocks/>
          </p:cNvSpPr>
          <p:nvPr/>
        </p:nvSpPr>
        <p:spPr>
          <a:xfrm rot="0">
            <a:off x="609600" y="323849"/>
            <a:ext cx="314324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 · CONVERSION &amp; TRACKING</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271"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Success means a confirmed customer order.</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72"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273" name="Rounded rectangle"/>
          <p:cNvSpPr>
            <a:spLocks/>
          </p:cNvSpPr>
          <p:nvPr/>
        </p:nvSpPr>
        <p:spPr>
          <a:xfrm rot="0">
            <a:off x="723900" y="1657350"/>
            <a:ext cx="10744199" cy="1200150"/>
          </a:xfrm>
          <a:prstGeom prst="roundRect">
            <a:avLst>
              <a:gd name="adj" fmla="val 9523"/>
            </a:avLst>
          </a:prstGeom>
          <a:solidFill>
            <a:srgbClr val="102A43"/>
          </a:solidFill>
          <a:ln w="9525" cmpd="sng" cap="flat">
            <a:solidFill>
              <a:srgbClr val="102A43"/>
            </a:solidFill>
            <a:prstDash val="solid"/>
            <a:round/>
          </a:ln>
        </p:spPr>
      </p:sp>
      <p:sp>
        <p:nvSpPr>
          <p:cNvPr id="274" name="Rectangle"/>
          <p:cNvSpPr>
            <a:spLocks/>
          </p:cNvSpPr>
          <p:nvPr/>
        </p:nvSpPr>
        <p:spPr>
          <a:xfrm rot="0">
            <a:off x="1028700" y="1857375"/>
            <a:ext cx="209549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050" b="1" i="0" u="none" strike="noStrike" kern="1200" cap="none" spc="0" baseline="0">
                <a:solidFill>
                  <a:srgbClr val="9EDBF0"/>
                </a:solidFill>
                <a:latin typeface="Calibri" pitchFamily="0" charset="0"/>
                <a:ea typeface="Calibri" pitchFamily="0" charset="0"/>
                <a:cs typeface="Calibri" pitchFamily="0" charset="0"/>
              </a:rPr>
              <a:t>ONE CONVERSION</a:t>
            </a:r>
            <a:endParaRPr lang="zh-CN" altLang="en-US" sz="1050" b="1" i="0" u="none" strike="noStrike" kern="1200" cap="none" spc="0" baseline="0">
              <a:solidFill>
                <a:srgbClr val="9EDBF0"/>
              </a:solidFill>
              <a:latin typeface="Calibri" pitchFamily="0" charset="0"/>
              <a:ea typeface="Calibri" pitchFamily="0" charset="0"/>
              <a:cs typeface="Calibri" pitchFamily="0" charset="0"/>
            </a:endParaRPr>
          </a:p>
        </p:txBody>
      </p:sp>
      <p:sp>
        <p:nvSpPr>
          <p:cNvPr id="275" name="Rectangle"/>
          <p:cNvSpPr>
            <a:spLocks/>
          </p:cNvSpPr>
          <p:nvPr/>
        </p:nvSpPr>
        <p:spPr>
          <a:xfrm rot="0">
            <a:off x="1028700" y="2200275"/>
            <a:ext cx="8572500" cy="428625"/>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400" b="1" i="0" u="none" strike="noStrike" kern="1200" cap="none" spc="0" baseline="0">
                <a:solidFill>
                  <a:srgbClr val="FFFFFF"/>
                </a:solidFill>
                <a:latin typeface="Calibri" pitchFamily="0" charset="0"/>
                <a:ea typeface="Calibri" pitchFamily="0" charset="0"/>
                <a:cs typeface="Calibri" pitchFamily="0" charset="0"/>
              </a:rPr>
              <a:t>A completed and confirmed direct order</a:t>
            </a:r>
            <a:endParaRPr lang="zh-CN" altLang="en-US" sz="2400" b="1" i="0" u="none" strike="noStrike" kern="1200" cap="none" spc="0" baseline="0">
              <a:solidFill>
                <a:srgbClr val="FFFFFF"/>
              </a:solidFill>
              <a:latin typeface="Calibri" pitchFamily="0" charset="0"/>
              <a:ea typeface="Calibri" pitchFamily="0" charset="0"/>
              <a:cs typeface="Calibri" pitchFamily="0" charset="0"/>
            </a:endParaRPr>
          </a:p>
        </p:txBody>
      </p:sp>
      <p:sp>
        <p:nvSpPr>
          <p:cNvPr id="276" name="Rounded rectangle"/>
          <p:cNvSpPr>
            <a:spLocks/>
          </p:cNvSpPr>
          <p:nvPr/>
        </p:nvSpPr>
        <p:spPr>
          <a:xfrm rot="0">
            <a:off x="723900" y="3295650"/>
            <a:ext cx="3238500" cy="1952625"/>
          </a:xfrm>
          <a:prstGeom prst="roundRect">
            <a:avLst>
              <a:gd name="adj" fmla="val 5851"/>
            </a:avLst>
          </a:prstGeom>
          <a:solidFill>
            <a:srgbClr val="F6F9FC"/>
          </a:solidFill>
          <a:ln w="9525" cmpd="sng" cap="flat">
            <a:solidFill>
              <a:srgbClr val="D6E4EC"/>
            </a:solidFill>
            <a:prstDash val="solid"/>
            <a:round/>
          </a:ln>
        </p:spPr>
      </p:sp>
      <p:sp>
        <p:nvSpPr>
          <p:cNvPr id="277" name="Rectangle"/>
          <p:cNvSpPr>
            <a:spLocks/>
          </p:cNvSpPr>
          <p:nvPr/>
        </p:nvSpPr>
        <p:spPr>
          <a:xfrm rot="0">
            <a:off x="952500" y="3524250"/>
            <a:ext cx="47625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650" b="1" i="0" u="none" strike="noStrike" kern="1200" cap="none" spc="0" baseline="0">
                <a:solidFill>
                  <a:srgbClr val="F26B5B"/>
                </a:solidFill>
                <a:latin typeface="Calibri" pitchFamily="0" charset="0"/>
                <a:ea typeface="Calibri" pitchFamily="0" charset="0"/>
                <a:cs typeface="Calibri" pitchFamily="0" charset="0"/>
              </a:rPr>
              <a:t>01</a:t>
            </a:r>
            <a:endParaRPr lang="zh-CN" altLang="en-US" sz="1650" b="1" i="0" u="none" strike="noStrike" kern="1200" cap="none" spc="0" baseline="0">
              <a:solidFill>
                <a:srgbClr val="F26B5B"/>
              </a:solidFill>
              <a:latin typeface="Calibri" pitchFamily="0" charset="0"/>
              <a:ea typeface="Calibri" pitchFamily="0" charset="0"/>
              <a:cs typeface="Calibri" pitchFamily="0" charset="0"/>
            </a:endParaRPr>
          </a:p>
        </p:txBody>
      </p:sp>
      <p:sp>
        <p:nvSpPr>
          <p:cNvPr id="278" name="Rectangle"/>
          <p:cNvSpPr>
            <a:spLocks/>
          </p:cNvSpPr>
          <p:nvPr/>
        </p:nvSpPr>
        <p:spPr>
          <a:xfrm rot="0">
            <a:off x="952500" y="3962400"/>
            <a:ext cx="2714625" cy="333375"/>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102A43"/>
                </a:solidFill>
                <a:latin typeface="Calibri" pitchFamily="0" charset="0"/>
                <a:ea typeface="Calibri" pitchFamily="0" charset="0"/>
                <a:cs typeface="Calibri" pitchFamily="0" charset="0"/>
              </a:rPr>
              <a:t>Orders</a:t>
            </a:r>
            <a:endParaRPr lang="zh-CN" altLang="en-US" sz="18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79" name="Rectangle"/>
          <p:cNvSpPr>
            <a:spLocks/>
          </p:cNvSpPr>
          <p:nvPr/>
        </p:nvSpPr>
        <p:spPr>
          <a:xfrm rot="0">
            <a:off x="952500" y="4448175"/>
            <a:ext cx="2714625" cy="5524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5D7184"/>
                </a:solidFill>
                <a:latin typeface="Calibri" pitchFamily="0" charset="0"/>
                <a:ea typeface="Calibri" pitchFamily="0" charset="0"/>
                <a:cs typeface="Calibri" pitchFamily="0" charset="0"/>
              </a:rPr>
              <a:t>How many confirmed sales?</a:t>
            </a:r>
            <a:endParaRPr lang="zh-CN" altLang="en-US" sz="1350" b="0" i="0" u="none" strike="noStrike" kern="1200" cap="none" spc="0" baseline="0">
              <a:solidFill>
                <a:srgbClr val="5D7184"/>
              </a:solidFill>
              <a:latin typeface="Calibri" pitchFamily="0" charset="0"/>
              <a:ea typeface="Calibri" pitchFamily="0" charset="0"/>
              <a:cs typeface="Calibri" pitchFamily="0" charset="0"/>
            </a:endParaRPr>
          </a:p>
        </p:txBody>
      </p:sp>
      <p:sp>
        <p:nvSpPr>
          <p:cNvPr id="280" name="Rounded rectangle"/>
          <p:cNvSpPr>
            <a:spLocks/>
          </p:cNvSpPr>
          <p:nvPr/>
        </p:nvSpPr>
        <p:spPr>
          <a:xfrm rot="0">
            <a:off x="4305300" y="3295650"/>
            <a:ext cx="3238500" cy="1952625"/>
          </a:xfrm>
          <a:prstGeom prst="roundRect">
            <a:avLst>
              <a:gd name="adj" fmla="val 5851"/>
            </a:avLst>
          </a:prstGeom>
          <a:solidFill>
            <a:srgbClr val="F6F9FC"/>
          </a:solidFill>
          <a:ln w="9525" cmpd="sng" cap="flat">
            <a:solidFill>
              <a:srgbClr val="D6E4EC"/>
            </a:solidFill>
            <a:prstDash val="solid"/>
            <a:round/>
          </a:ln>
        </p:spPr>
      </p:sp>
      <p:sp>
        <p:nvSpPr>
          <p:cNvPr id="281" name="Rectangle"/>
          <p:cNvSpPr>
            <a:spLocks/>
          </p:cNvSpPr>
          <p:nvPr/>
        </p:nvSpPr>
        <p:spPr>
          <a:xfrm rot="0">
            <a:off x="4533900" y="3524250"/>
            <a:ext cx="47625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650" b="1" i="0" u="none" strike="noStrike" kern="1200" cap="none" spc="0" baseline="0">
                <a:solidFill>
                  <a:srgbClr val="F26B5B"/>
                </a:solidFill>
                <a:latin typeface="Calibri" pitchFamily="0" charset="0"/>
                <a:ea typeface="Calibri" pitchFamily="0" charset="0"/>
                <a:cs typeface="Calibri" pitchFamily="0" charset="0"/>
              </a:rPr>
              <a:t>02</a:t>
            </a:r>
            <a:endParaRPr lang="zh-CN" altLang="en-US" sz="1650" b="1" i="0" u="none" strike="noStrike" kern="1200" cap="none" spc="0" baseline="0">
              <a:solidFill>
                <a:srgbClr val="F26B5B"/>
              </a:solidFill>
              <a:latin typeface="Calibri" pitchFamily="0" charset="0"/>
              <a:ea typeface="Calibri" pitchFamily="0" charset="0"/>
              <a:cs typeface="Calibri" pitchFamily="0" charset="0"/>
            </a:endParaRPr>
          </a:p>
        </p:txBody>
      </p:sp>
      <p:sp>
        <p:nvSpPr>
          <p:cNvPr id="282" name="Rectangle"/>
          <p:cNvSpPr>
            <a:spLocks/>
          </p:cNvSpPr>
          <p:nvPr/>
        </p:nvSpPr>
        <p:spPr>
          <a:xfrm rot="0">
            <a:off x="4533900" y="3962400"/>
            <a:ext cx="2714625" cy="333375"/>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102A43"/>
                </a:solidFill>
                <a:latin typeface="Calibri" pitchFamily="0" charset="0"/>
                <a:ea typeface="Calibri" pitchFamily="0" charset="0"/>
                <a:cs typeface="Calibri" pitchFamily="0" charset="0"/>
              </a:rPr>
              <a:t>Cost per sale</a:t>
            </a:r>
            <a:endParaRPr lang="zh-CN" altLang="en-US" sz="18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83" name="Rectangle"/>
          <p:cNvSpPr>
            <a:spLocks/>
          </p:cNvSpPr>
          <p:nvPr/>
        </p:nvSpPr>
        <p:spPr>
          <a:xfrm rot="0">
            <a:off x="4533900" y="4448175"/>
            <a:ext cx="2714625" cy="5524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5D7184"/>
                </a:solidFill>
                <a:latin typeface="Calibri" pitchFamily="0" charset="0"/>
                <a:ea typeface="Calibri" pitchFamily="0" charset="0"/>
                <a:cs typeface="Calibri" pitchFamily="0" charset="0"/>
              </a:rPr>
              <a:t>How much marketing spend produced each order?</a:t>
            </a:r>
            <a:endParaRPr lang="zh-CN" altLang="en-US" sz="1350" b="0" i="0" u="none" strike="noStrike" kern="1200" cap="none" spc="0" baseline="0">
              <a:solidFill>
                <a:srgbClr val="5D7184"/>
              </a:solidFill>
              <a:latin typeface="Calibri" pitchFamily="0" charset="0"/>
              <a:ea typeface="Calibri" pitchFamily="0" charset="0"/>
              <a:cs typeface="Calibri" pitchFamily="0" charset="0"/>
            </a:endParaRPr>
          </a:p>
        </p:txBody>
      </p:sp>
      <p:sp>
        <p:nvSpPr>
          <p:cNvPr id="284" name="Rounded rectangle"/>
          <p:cNvSpPr>
            <a:spLocks/>
          </p:cNvSpPr>
          <p:nvPr/>
        </p:nvSpPr>
        <p:spPr>
          <a:xfrm rot="0">
            <a:off x="7886700" y="3295650"/>
            <a:ext cx="3238500" cy="1952625"/>
          </a:xfrm>
          <a:prstGeom prst="roundRect">
            <a:avLst>
              <a:gd name="adj" fmla="val 5851"/>
            </a:avLst>
          </a:prstGeom>
          <a:solidFill>
            <a:srgbClr val="F6F9FC"/>
          </a:solidFill>
          <a:ln w="9525" cmpd="sng" cap="flat">
            <a:solidFill>
              <a:srgbClr val="D6E4EC"/>
            </a:solidFill>
            <a:prstDash val="solid"/>
            <a:round/>
          </a:ln>
        </p:spPr>
      </p:sp>
      <p:sp>
        <p:nvSpPr>
          <p:cNvPr id="285" name="Rectangle"/>
          <p:cNvSpPr>
            <a:spLocks/>
          </p:cNvSpPr>
          <p:nvPr/>
        </p:nvSpPr>
        <p:spPr>
          <a:xfrm rot="0">
            <a:off x="8115300" y="3524250"/>
            <a:ext cx="476250"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650" b="1" i="0" u="none" strike="noStrike" kern="1200" cap="none" spc="0" baseline="0">
                <a:solidFill>
                  <a:srgbClr val="F26B5B"/>
                </a:solidFill>
                <a:latin typeface="Calibri" pitchFamily="0" charset="0"/>
                <a:ea typeface="Calibri" pitchFamily="0" charset="0"/>
                <a:cs typeface="Calibri" pitchFamily="0" charset="0"/>
              </a:rPr>
              <a:t>03</a:t>
            </a:r>
            <a:endParaRPr lang="zh-CN" altLang="en-US" sz="1650" b="1" i="0" u="none" strike="noStrike" kern="1200" cap="none" spc="0" baseline="0">
              <a:solidFill>
                <a:srgbClr val="F26B5B"/>
              </a:solidFill>
              <a:latin typeface="Calibri" pitchFamily="0" charset="0"/>
              <a:ea typeface="Calibri" pitchFamily="0" charset="0"/>
              <a:cs typeface="Calibri" pitchFamily="0" charset="0"/>
            </a:endParaRPr>
          </a:p>
        </p:txBody>
      </p:sp>
      <p:sp>
        <p:nvSpPr>
          <p:cNvPr id="286" name="Rectangle"/>
          <p:cNvSpPr>
            <a:spLocks/>
          </p:cNvSpPr>
          <p:nvPr/>
        </p:nvSpPr>
        <p:spPr>
          <a:xfrm rot="0">
            <a:off x="8115300" y="3962400"/>
            <a:ext cx="2714625" cy="333375"/>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00" b="1" i="0" u="none" strike="noStrike" kern="1200" cap="none" spc="0" baseline="0">
                <a:solidFill>
                  <a:srgbClr val="102A43"/>
                </a:solidFill>
                <a:latin typeface="Calibri" pitchFamily="0" charset="0"/>
                <a:ea typeface="Calibri" pitchFamily="0" charset="0"/>
                <a:cs typeface="Calibri" pitchFamily="0" charset="0"/>
              </a:rPr>
              <a:t>ROAS</a:t>
            </a:r>
            <a:endParaRPr lang="zh-CN" altLang="en-US" sz="18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87" name="Rectangle"/>
          <p:cNvSpPr>
            <a:spLocks/>
          </p:cNvSpPr>
          <p:nvPr/>
        </p:nvSpPr>
        <p:spPr>
          <a:xfrm rot="0">
            <a:off x="8115300" y="4448175"/>
            <a:ext cx="2714625" cy="5524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5D7184"/>
                </a:solidFill>
                <a:latin typeface="Calibri" pitchFamily="0" charset="0"/>
                <a:ea typeface="Calibri" pitchFamily="0" charset="0"/>
                <a:cs typeface="Calibri" pitchFamily="0" charset="0"/>
              </a:rPr>
              <a:t>How much revenue returned for every ad rupee?</a:t>
            </a:r>
            <a:endParaRPr lang="zh-CN" altLang="en-US" sz="1350" b="0" i="0" u="none" strike="noStrike" kern="1200" cap="none" spc="0" baseline="0">
              <a:solidFill>
                <a:srgbClr val="5D7184"/>
              </a:solidFill>
              <a:latin typeface="Calibri" pitchFamily="0" charset="0"/>
              <a:ea typeface="Calibri" pitchFamily="0" charset="0"/>
              <a:cs typeface="Calibri" pitchFamily="0" charset="0"/>
            </a:endParaRPr>
          </a:p>
        </p:txBody>
      </p:sp>
      <p:sp>
        <p:nvSpPr>
          <p:cNvPr id="288" name="Rectangle"/>
          <p:cNvSpPr>
            <a:spLocks/>
          </p:cNvSpPr>
          <p:nvPr/>
        </p:nvSpPr>
        <p:spPr>
          <a:xfrm rot="0">
            <a:off x="1047750" y="5610225"/>
            <a:ext cx="10096500" cy="34290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Review weekly. Improve creative, keywords or landing pages - not the goal.</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90"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15</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2043099768"/>
      </p:ext>
    </p:extLst>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94" name="Rectangle"/>
          <p:cNvSpPr>
            <a:spLocks/>
          </p:cNvSpPr>
          <p:nvPr/>
        </p:nvSpPr>
        <p:spPr>
          <a:xfrm rot="0">
            <a:off x="609600" y="323849"/>
            <a:ext cx="3143249" cy="2286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900" b="1" i="0" u="none" strike="noStrike" kern="1200" cap="none" spc="0" baseline="0">
                <a:solidFill>
                  <a:srgbClr val="168FC7"/>
                </a:solidFill>
                <a:latin typeface="Calibri" pitchFamily="0" charset="0"/>
                <a:ea typeface="Calibri" pitchFamily="0" charset="0"/>
                <a:cs typeface="Calibri" pitchFamily="0" charset="0"/>
              </a:rPr>
              <a:t> · PRICE, TIMELINE &amp; PAYMENT</a:t>
            </a:r>
            <a:endParaRPr lang="zh-CN" altLang="en-US" sz="9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295" name="Rectangle"/>
          <p:cNvSpPr>
            <a:spLocks/>
          </p:cNvSpPr>
          <p:nvPr/>
        </p:nvSpPr>
        <p:spPr>
          <a:xfrm rot="0">
            <a:off x="609600" y="619125"/>
            <a:ext cx="10572750" cy="5905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2700" b="1" i="0" u="none" strike="noStrike" kern="1200" cap="none" spc="0" baseline="0">
                <a:solidFill>
                  <a:srgbClr val="102A43"/>
                </a:solidFill>
                <a:latin typeface="Calibri" pitchFamily="0" charset="0"/>
                <a:ea typeface="Calibri" pitchFamily="0" charset="0"/>
                <a:cs typeface="Calibri" pitchFamily="0" charset="0"/>
              </a:rPr>
              <a:t>A 30-day pilot makes the plan practical and measurable.</a:t>
            </a:r>
            <a:endParaRPr lang="zh-CN" altLang="en-US" sz="27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296" name="Rectangle"/>
          <p:cNvSpPr>
            <a:spLocks/>
          </p:cNvSpPr>
          <p:nvPr/>
        </p:nvSpPr>
        <p:spPr>
          <a:xfrm rot="0">
            <a:off x="609600" y="1285875"/>
            <a:ext cx="10972800" cy="28575"/>
          </a:xfrm>
          <a:prstGeom prst="rect"/>
          <a:solidFill>
            <a:srgbClr val="168FC7"/>
          </a:solidFill>
          <a:ln w="0" cmpd="sng" cap="flat">
            <a:solidFill>
              <a:srgbClr val="168FC7"/>
            </a:solidFill>
            <a:prstDash val="solid"/>
            <a:round/>
          </a:ln>
        </p:spPr>
      </p:sp>
      <p:sp>
        <p:nvSpPr>
          <p:cNvPr id="297" name="Rounded rectangle"/>
          <p:cNvSpPr>
            <a:spLocks/>
          </p:cNvSpPr>
          <p:nvPr/>
        </p:nvSpPr>
        <p:spPr>
          <a:xfrm rot="0">
            <a:off x="685800" y="1619250"/>
            <a:ext cx="4000499" cy="4095750"/>
          </a:xfrm>
          <a:prstGeom prst="roundRect">
            <a:avLst>
              <a:gd name="adj" fmla="val 2856"/>
            </a:avLst>
          </a:prstGeom>
          <a:solidFill>
            <a:srgbClr val="102A43"/>
          </a:solidFill>
          <a:ln w="9525" cmpd="sng" cap="flat">
            <a:solidFill>
              <a:srgbClr val="102A43"/>
            </a:solidFill>
            <a:prstDash val="solid"/>
            <a:round/>
          </a:ln>
        </p:spPr>
      </p:sp>
      <p:sp>
        <p:nvSpPr>
          <p:cNvPr id="298" name="Rectangle"/>
          <p:cNvSpPr>
            <a:spLocks/>
          </p:cNvSpPr>
          <p:nvPr/>
        </p:nvSpPr>
        <p:spPr>
          <a:xfrm rot="0">
            <a:off x="990600" y="1952625"/>
            <a:ext cx="2476500" cy="238125"/>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25" b="1" i="0" u="none" strike="noStrike" kern="1200" cap="none" spc="0" baseline="0">
                <a:solidFill>
                  <a:srgbClr val="9EDBF0"/>
                </a:solidFill>
                <a:latin typeface="Calibri" pitchFamily="0" charset="0"/>
                <a:ea typeface="Calibri" pitchFamily="0" charset="0"/>
                <a:cs typeface="Calibri" pitchFamily="0" charset="0"/>
              </a:rPr>
              <a:t>30-DAY PILOT</a:t>
            </a:r>
            <a:endParaRPr lang="zh-CN" altLang="en-US" sz="1125" b="1" i="0" u="none" strike="noStrike" kern="1200" cap="none" spc="0" baseline="0">
              <a:solidFill>
                <a:srgbClr val="9EDBF0"/>
              </a:solidFill>
              <a:latin typeface="Calibri" pitchFamily="0" charset="0"/>
              <a:ea typeface="Calibri" pitchFamily="0" charset="0"/>
              <a:cs typeface="Calibri" pitchFamily="0" charset="0"/>
            </a:endParaRPr>
          </a:p>
        </p:txBody>
      </p:sp>
      <p:sp>
        <p:nvSpPr>
          <p:cNvPr id="299" name="Rectangle"/>
          <p:cNvSpPr>
            <a:spLocks/>
          </p:cNvSpPr>
          <p:nvPr/>
        </p:nvSpPr>
        <p:spPr>
          <a:xfrm rot="0">
            <a:off x="990600" y="2362200"/>
            <a:ext cx="3143249" cy="523874"/>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000" b="1" i="0" u="none" strike="noStrike" kern="1200" cap="none" spc="0" baseline="0">
                <a:solidFill>
                  <a:srgbClr val="FFFFFF"/>
                </a:solidFill>
                <a:latin typeface="Calibri" pitchFamily="0" charset="0"/>
                <a:ea typeface="Calibri" pitchFamily="0" charset="0"/>
                <a:cs typeface="Calibri" pitchFamily="0" charset="0"/>
              </a:rPr>
              <a:t>PKR 45,000</a:t>
            </a:r>
            <a:endParaRPr lang="zh-CN" altLang="en-US" sz="3000" b="1" i="0" u="none" strike="noStrike" kern="1200" cap="none" spc="0" baseline="0">
              <a:solidFill>
                <a:srgbClr val="FFFFFF"/>
              </a:solidFill>
              <a:latin typeface="Calibri" pitchFamily="0" charset="0"/>
              <a:ea typeface="Calibri" pitchFamily="0" charset="0"/>
              <a:cs typeface="Calibri" pitchFamily="0" charset="0"/>
            </a:endParaRPr>
          </a:p>
        </p:txBody>
      </p:sp>
      <p:sp>
        <p:nvSpPr>
          <p:cNvPr id="300" name="Rectangle"/>
          <p:cNvSpPr>
            <a:spLocks/>
          </p:cNvSpPr>
          <p:nvPr/>
        </p:nvSpPr>
        <p:spPr>
          <a:xfrm rot="0">
            <a:off x="990600" y="2914650"/>
            <a:ext cx="285750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DDEAF2"/>
                </a:solidFill>
                <a:latin typeface="Calibri" pitchFamily="0" charset="0"/>
                <a:ea typeface="Calibri" pitchFamily="0" charset="0"/>
                <a:cs typeface="Calibri" pitchFamily="0" charset="0"/>
              </a:rPr>
              <a:t>Agency service fee</a:t>
            </a:r>
            <a:endParaRPr lang="zh-CN" altLang="en-US" sz="1350" b="0" i="0" u="none" strike="noStrike" kern="1200" cap="none" spc="0" baseline="0">
              <a:solidFill>
                <a:srgbClr val="DDEAF2"/>
              </a:solidFill>
              <a:latin typeface="Calibri" pitchFamily="0" charset="0"/>
              <a:ea typeface="Calibri" pitchFamily="0" charset="0"/>
              <a:cs typeface="Calibri" pitchFamily="0" charset="0"/>
            </a:endParaRPr>
          </a:p>
        </p:txBody>
      </p:sp>
      <p:sp>
        <p:nvSpPr>
          <p:cNvPr id="301" name="Oval"/>
          <p:cNvSpPr>
            <a:spLocks/>
          </p:cNvSpPr>
          <p:nvPr/>
        </p:nvSpPr>
        <p:spPr>
          <a:xfrm rot="0">
            <a:off x="990600" y="3581399"/>
            <a:ext cx="123825" cy="123825"/>
          </a:xfrm>
          <a:prstGeom prst="ellipse"/>
          <a:solidFill>
            <a:srgbClr val="F26B5B"/>
          </a:solidFill>
          <a:ln w="9525" cmpd="sng" cap="flat">
            <a:solidFill>
              <a:srgbClr val="F26B5B"/>
            </a:solidFill>
            <a:prstDash val="solid"/>
            <a:round/>
          </a:ln>
        </p:spPr>
      </p:sp>
      <p:sp>
        <p:nvSpPr>
          <p:cNvPr id="302" name="Rectangle"/>
          <p:cNvSpPr>
            <a:spLocks/>
          </p:cNvSpPr>
          <p:nvPr/>
        </p:nvSpPr>
        <p:spPr>
          <a:xfrm rot="0">
            <a:off x="1238250" y="3514725"/>
            <a:ext cx="2895600" cy="4000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pitchFamily="0" charset="0"/>
                <a:ea typeface="Calibri" pitchFamily="0" charset="0"/>
                <a:cs typeface="Calibri" pitchFamily="0" charset="0"/>
              </a:rPr>
              <a:t>Strategy &amp; campaign setup</a:t>
            </a:r>
            <a:endParaRPr lang="zh-CN" altLang="en-US" sz="1350" b="0" i="0" u="none" strike="noStrike" kern="1200" cap="none" spc="0" baseline="0">
              <a:solidFill>
                <a:srgbClr val="FFFFFF"/>
              </a:solidFill>
              <a:latin typeface="Calibri" pitchFamily="0" charset="0"/>
              <a:ea typeface="Calibri" pitchFamily="0" charset="0"/>
              <a:cs typeface="Calibri" pitchFamily="0" charset="0"/>
            </a:endParaRPr>
          </a:p>
        </p:txBody>
      </p:sp>
      <p:sp>
        <p:nvSpPr>
          <p:cNvPr id="303" name="Oval"/>
          <p:cNvSpPr>
            <a:spLocks/>
          </p:cNvSpPr>
          <p:nvPr/>
        </p:nvSpPr>
        <p:spPr>
          <a:xfrm rot="0">
            <a:off x="990600" y="4076700"/>
            <a:ext cx="123825" cy="123824"/>
          </a:xfrm>
          <a:prstGeom prst="ellipse"/>
          <a:solidFill>
            <a:srgbClr val="F26B5B"/>
          </a:solidFill>
          <a:ln w="9525" cmpd="sng" cap="flat">
            <a:solidFill>
              <a:srgbClr val="F26B5B"/>
            </a:solidFill>
            <a:prstDash val="solid"/>
            <a:round/>
          </a:ln>
        </p:spPr>
      </p:sp>
      <p:sp>
        <p:nvSpPr>
          <p:cNvPr id="304" name="Rectangle"/>
          <p:cNvSpPr>
            <a:spLocks/>
          </p:cNvSpPr>
          <p:nvPr/>
        </p:nvSpPr>
        <p:spPr>
          <a:xfrm rot="0">
            <a:off x="1238250" y="4010025"/>
            <a:ext cx="2895600" cy="4000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pitchFamily="0" charset="0"/>
                <a:ea typeface="Calibri" pitchFamily="0" charset="0"/>
                <a:cs typeface="Calibri" pitchFamily="0" charset="0"/>
              </a:rPr>
              <a:t>8 short-form content pieces</a:t>
            </a:r>
            <a:endParaRPr lang="zh-CN" altLang="en-US" sz="1350" b="0" i="0" u="none" strike="noStrike" kern="1200" cap="none" spc="0" baseline="0">
              <a:solidFill>
                <a:srgbClr val="FFFFFF"/>
              </a:solidFill>
              <a:latin typeface="Calibri" pitchFamily="0" charset="0"/>
              <a:ea typeface="Calibri" pitchFamily="0" charset="0"/>
              <a:cs typeface="Calibri" pitchFamily="0" charset="0"/>
            </a:endParaRPr>
          </a:p>
        </p:txBody>
      </p:sp>
      <p:sp>
        <p:nvSpPr>
          <p:cNvPr id="305" name="Oval"/>
          <p:cNvSpPr>
            <a:spLocks/>
          </p:cNvSpPr>
          <p:nvPr/>
        </p:nvSpPr>
        <p:spPr>
          <a:xfrm rot="0">
            <a:off x="990600" y="4572000"/>
            <a:ext cx="123825" cy="123824"/>
          </a:xfrm>
          <a:prstGeom prst="ellipse"/>
          <a:solidFill>
            <a:srgbClr val="F26B5B"/>
          </a:solidFill>
          <a:ln w="9525" cmpd="sng" cap="flat">
            <a:solidFill>
              <a:srgbClr val="F26B5B"/>
            </a:solidFill>
            <a:prstDash val="solid"/>
            <a:round/>
          </a:ln>
        </p:spPr>
      </p:sp>
      <p:sp>
        <p:nvSpPr>
          <p:cNvPr id="306" name="Rectangle"/>
          <p:cNvSpPr>
            <a:spLocks/>
          </p:cNvSpPr>
          <p:nvPr/>
        </p:nvSpPr>
        <p:spPr>
          <a:xfrm rot="0">
            <a:off x="1238250" y="4505325"/>
            <a:ext cx="2895600" cy="400049"/>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pitchFamily="0" charset="0"/>
                <a:ea typeface="Calibri" pitchFamily="0" charset="0"/>
                <a:cs typeface="Calibri" pitchFamily="0" charset="0"/>
              </a:rPr>
              <a:t>Search Ads + SEO setup</a:t>
            </a:r>
            <a:endParaRPr lang="zh-CN" altLang="en-US" sz="1350" b="0" i="0" u="none" strike="noStrike" kern="1200" cap="none" spc="0" baseline="0">
              <a:solidFill>
                <a:srgbClr val="FFFFFF"/>
              </a:solidFill>
              <a:latin typeface="Calibri" pitchFamily="0" charset="0"/>
              <a:ea typeface="Calibri" pitchFamily="0" charset="0"/>
              <a:cs typeface="Calibri" pitchFamily="0" charset="0"/>
            </a:endParaRPr>
          </a:p>
        </p:txBody>
      </p:sp>
      <p:sp>
        <p:nvSpPr>
          <p:cNvPr id="307" name="Oval"/>
          <p:cNvSpPr>
            <a:spLocks/>
          </p:cNvSpPr>
          <p:nvPr/>
        </p:nvSpPr>
        <p:spPr>
          <a:xfrm rot="0">
            <a:off x="990600" y="5067300"/>
            <a:ext cx="123825" cy="123824"/>
          </a:xfrm>
          <a:prstGeom prst="ellipse"/>
          <a:solidFill>
            <a:srgbClr val="F26B5B"/>
          </a:solidFill>
          <a:ln w="9525" cmpd="sng" cap="flat">
            <a:solidFill>
              <a:srgbClr val="F26B5B"/>
            </a:solidFill>
            <a:prstDash val="solid"/>
            <a:round/>
          </a:ln>
        </p:spPr>
      </p:sp>
      <p:sp>
        <p:nvSpPr>
          <p:cNvPr id="308" name="Rectangle"/>
          <p:cNvSpPr>
            <a:spLocks/>
          </p:cNvSpPr>
          <p:nvPr/>
        </p:nvSpPr>
        <p:spPr>
          <a:xfrm rot="0">
            <a:off x="1238250" y="5000625"/>
            <a:ext cx="2895600" cy="4000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pitchFamily="0" charset="0"/>
                <a:ea typeface="Calibri" pitchFamily="0" charset="0"/>
                <a:cs typeface="Calibri" pitchFamily="0" charset="0"/>
              </a:rPr>
              <a:t>Weekly performance report</a:t>
            </a:r>
            <a:endParaRPr lang="zh-CN" altLang="en-US" sz="1350" b="0" i="0" u="none" strike="noStrike" kern="1200" cap="none" spc="0" baseline="0">
              <a:solidFill>
                <a:srgbClr val="FFFFFF"/>
              </a:solidFill>
              <a:latin typeface="Calibri" pitchFamily="0" charset="0"/>
              <a:ea typeface="Calibri" pitchFamily="0" charset="0"/>
              <a:cs typeface="Calibri" pitchFamily="0" charset="0"/>
            </a:endParaRPr>
          </a:p>
        </p:txBody>
      </p:sp>
      <p:sp>
        <p:nvSpPr>
          <p:cNvPr id="309" name="Rectangle"/>
          <p:cNvSpPr>
            <a:spLocks/>
          </p:cNvSpPr>
          <p:nvPr/>
        </p:nvSpPr>
        <p:spPr>
          <a:xfrm rot="0">
            <a:off x="990600" y="5429250"/>
            <a:ext cx="314324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125" b="1" i="0" u="none" strike="noStrike" kern="1200" cap="none" spc="0" baseline="0">
                <a:solidFill>
                  <a:srgbClr val="9EDBF0"/>
                </a:solidFill>
                <a:latin typeface="Calibri" pitchFamily="0" charset="0"/>
                <a:ea typeface="Calibri" pitchFamily="0" charset="0"/>
                <a:cs typeface="Calibri" pitchFamily="0" charset="0"/>
              </a:rPr>
              <a:t>Ad spend paid separately by client</a:t>
            </a:r>
            <a:endParaRPr lang="zh-CN" altLang="en-US" sz="1125" b="1" i="0" u="none" strike="noStrike" kern="1200" cap="none" spc="0" baseline="0">
              <a:solidFill>
                <a:srgbClr val="9EDBF0"/>
              </a:solidFill>
              <a:latin typeface="Calibri" pitchFamily="0" charset="0"/>
              <a:ea typeface="Calibri" pitchFamily="0" charset="0"/>
              <a:cs typeface="Calibri" pitchFamily="0" charset="0"/>
            </a:endParaRPr>
          </a:p>
        </p:txBody>
      </p:sp>
      <p:sp>
        <p:nvSpPr>
          <p:cNvPr id="310" name="Rectangle"/>
          <p:cNvSpPr>
            <a:spLocks/>
          </p:cNvSpPr>
          <p:nvPr/>
        </p:nvSpPr>
        <p:spPr>
          <a:xfrm rot="0">
            <a:off x="5334000" y="1752599"/>
            <a:ext cx="2095500"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rgbClr val="168FC7"/>
                </a:solidFill>
                <a:latin typeface="Calibri" pitchFamily="0" charset="0"/>
                <a:ea typeface="Calibri" pitchFamily="0" charset="0"/>
                <a:cs typeface="Calibri" pitchFamily="0" charset="0"/>
              </a:rPr>
              <a:t>TIMELINE</a:t>
            </a:r>
            <a:endParaRPr lang="zh-CN" altLang="en-US" sz="1200" b="1" i="0" u="none" strike="noStrike" kern="1200" cap="none" spc="0" baseline="0">
              <a:solidFill>
                <a:srgbClr val="168FC7"/>
              </a:solidFill>
              <a:latin typeface="Calibri" pitchFamily="0" charset="0"/>
              <a:ea typeface="Calibri" pitchFamily="0" charset="0"/>
              <a:cs typeface="Calibri" pitchFamily="0" charset="0"/>
            </a:endParaRPr>
          </a:p>
        </p:txBody>
      </p:sp>
      <p:sp>
        <p:nvSpPr>
          <p:cNvPr id="311" name="Rectangle"/>
          <p:cNvSpPr>
            <a:spLocks/>
          </p:cNvSpPr>
          <p:nvPr/>
        </p:nvSpPr>
        <p:spPr>
          <a:xfrm rot="0">
            <a:off x="5334000" y="2257425"/>
            <a:ext cx="1238249"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1" i="0" u="none" strike="noStrike" kern="1200" cap="none" spc="0" baseline="0">
                <a:solidFill>
                  <a:srgbClr val="F26B5B"/>
                </a:solidFill>
                <a:latin typeface="Calibri" pitchFamily="0" charset="0"/>
                <a:ea typeface="Calibri" pitchFamily="0" charset="0"/>
                <a:cs typeface="Calibri" pitchFamily="0" charset="0"/>
              </a:rPr>
              <a:t>Week 1</a:t>
            </a:r>
            <a:endParaRPr lang="zh-CN" altLang="en-US" sz="1425" b="1" i="0" u="none" strike="noStrike" kern="1200" cap="none" spc="0" baseline="0">
              <a:solidFill>
                <a:srgbClr val="F26B5B"/>
              </a:solidFill>
              <a:latin typeface="Calibri" pitchFamily="0" charset="0"/>
              <a:ea typeface="Calibri" pitchFamily="0" charset="0"/>
              <a:cs typeface="Calibri" pitchFamily="0" charset="0"/>
            </a:endParaRPr>
          </a:p>
        </p:txBody>
      </p:sp>
      <p:sp>
        <p:nvSpPr>
          <p:cNvPr id="312" name="Rectangle"/>
          <p:cNvSpPr>
            <a:spLocks/>
          </p:cNvSpPr>
          <p:nvPr/>
        </p:nvSpPr>
        <p:spPr>
          <a:xfrm rot="0">
            <a:off x="6667499" y="2257425"/>
            <a:ext cx="4095749" cy="333375"/>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1" i="0" u="none" strike="noStrike" kern="1200" cap="none" spc="0" baseline="0">
                <a:solidFill>
                  <a:srgbClr val="102A43"/>
                </a:solidFill>
                <a:latin typeface="Calibri" pitchFamily="0" charset="0"/>
                <a:ea typeface="Calibri" pitchFamily="0" charset="0"/>
                <a:cs typeface="Calibri" pitchFamily="0" charset="0"/>
              </a:rPr>
              <a:t>Research, tracking and setup</a:t>
            </a:r>
            <a:endParaRPr lang="zh-CN" altLang="en-US" sz="1425" b="1" i="0" u="none" strike="noStrike" kern="1200" cap="none" spc="0" baseline="0">
              <a:solidFill>
                <a:srgbClr val="102A43"/>
              </a:solidFill>
              <a:latin typeface="Calibri" pitchFamily="0" charset="0"/>
              <a:ea typeface="Calibri" pitchFamily="0" charset="0"/>
              <a:cs typeface="Calibri" pitchFamily="0" charset="0"/>
            </a:endParaRPr>
          </a:p>
        </p:txBody>
      </p:sp>
      <p:sp>
        <p:nvSpPr>
          <p:cNvPr id="313" name="Rectangle"/>
          <p:cNvSpPr>
            <a:spLocks/>
          </p:cNvSpPr>
          <p:nvPr/>
        </p:nvSpPr>
        <p:spPr>
          <a:xfrm rot="0">
            <a:off x="5334000" y="2952750"/>
            <a:ext cx="1238249"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1" i="0" u="none" strike="noStrike" kern="1200" cap="none" spc="0" baseline="0">
                <a:solidFill>
                  <a:srgbClr val="F26B5B"/>
                </a:solidFill>
                <a:latin typeface="Calibri" pitchFamily="0" charset="0"/>
                <a:ea typeface="Calibri" pitchFamily="0" charset="0"/>
                <a:cs typeface="Calibri" pitchFamily="0" charset="0"/>
              </a:rPr>
              <a:t>Week 2</a:t>
            </a:r>
            <a:endParaRPr lang="zh-CN" altLang="en-US" sz="1425" b="1" i="0" u="none" strike="noStrike" kern="1200" cap="none" spc="0" baseline="0">
              <a:solidFill>
                <a:srgbClr val="F26B5B"/>
              </a:solidFill>
              <a:latin typeface="Calibri" pitchFamily="0" charset="0"/>
              <a:ea typeface="Calibri" pitchFamily="0" charset="0"/>
              <a:cs typeface="Calibri" pitchFamily="0" charset="0"/>
            </a:endParaRPr>
          </a:p>
        </p:txBody>
      </p:sp>
      <p:sp>
        <p:nvSpPr>
          <p:cNvPr id="314" name="Rectangle"/>
          <p:cNvSpPr>
            <a:spLocks/>
          </p:cNvSpPr>
          <p:nvPr/>
        </p:nvSpPr>
        <p:spPr>
          <a:xfrm rot="0">
            <a:off x="6667499" y="2952750"/>
            <a:ext cx="4095749" cy="333374"/>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1" i="0" u="none" strike="noStrike" kern="1200" cap="none" spc="0" baseline="0">
                <a:solidFill>
                  <a:srgbClr val="102A43"/>
                </a:solidFill>
                <a:latin typeface="Calibri" pitchFamily="0" charset="0"/>
                <a:ea typeface="Calibri" pitchFamily="0" charset="0"/>
                <a:cs typeface="Calibri" pitchFamily="0" charset="0"/>
              </a:rPr>
              <a:t>Content and campaign launch</a:t>
            </a:r>
            <a:endParaRPr lang="zh-CN" altLang="en-US" sz="1425" b="1" i="0" u="none" strike="noStrike" kern="1200" cap="none" spc="0" baseline="0">
              <a:solidFill>
                <a:srgbClr val="102A43"/>
              </a:solidFill>
              <a:latin typeface="Calibri" pitchFamily="0" charset="0"/>
              <a:ea typeface="Calibri" pitchFamily="0" charset="0"/>
              <a:cs typeface="Calibri" pitchFamily="0" charset="0"/>
            </a:endParaRPr>
          </a:p>
        </p:txBody>
      </p:sp>
      <p:sp>
        <p:nvSpPr>
          <p:cNvPr id="315" name="Rectangle"/>
          <p:cNvSpPr>
            <a:spLocks/>
          </p:cNvSpPr>
          <p:nvPr/>
        </p:nvSpPr>
        <p:spPr>
          <a:xfrm rot="0">
            <a:off x="5334000" y="3648075"/>
            <a:ext cx="1238249"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1" i="0" u="none" strike="noStrike" kern="1200" cap="none" spc="0" baseline="0">
                <a:solidFill>
                  <a:srgbClr val="F26B5B"/>
                </a:solidFill>
                <a:latin typeface="Calibri" pitchFamily="0" charset="0"/>
                <a:ea typeface="Calibri" pitchFamily="0" charset="0"/>
                <a:cs typeface="Calibri" pitchFamily="0" charset="0"/>
              </a:rPr>
              <a:t>Week 3</a:t>
            </a:r>
            <a:endParaRPr lang="zh-CN" altLang="en-US" sz="1425" b="1" i="0" u="none" strike="noStrike" kern="1200" cap="none" spc="0" baseline="0">
              <a:solidFill>
                <a:srgbClr val="F26B5B"/>
              </a:solidFill>
              <a:latin typeface="Calibri" pitchFamily="0" charset="0"/>
              <a:ea typeface="Calibri" pitchFamily="0" charset="0"/>
              <a:cs typeface="Calibri" pitchFamily="0" charset="0"/>
            </a:endParaRPr>
          </a:p>
        </p:txBody>
      </p:sp>
      <p:sp>
        <p:nvSpPr>
          <p:cNvPr id="316" name="Rectangle"/>
          <p:cNvSpPr>
            <a:spLocks/>
          </p:cNvSpPr>
          <p:nvPr/>
        </p:nvSpPr>
        <p:spPr>
          <a:xfrm rot="0">
            <a:off x="6667499" y="3648075"/>
            <a:ext cx="4095749" cy="333374"/>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1" i="0" u="none" strike="noStrike" kern="1200" cap="none" spc="0" baseline="0">
                <a:solidFill>
                  <a:srgbClr val="102A43"/>
                </a:solidFill>
                <a:latin typeface="Calibri" pitchFamily="0" charset="0"/>
                <a:ea typeface="Calibri" pitchFamily="0" charset="0"/>
                <a:cs typeface="Calibri" pitchFamily="0" charset="0"/>
              </a:rPr>
              <a:t>Testing and optimisation</a:t>
            </a:r>
            <a:endParaRPr lang="zh-CN" altLang="en-US" sz="1425" b="1" i="0" u="none" strike="noStrike" kern="1200" cap="none" spc="0" baseline="0">
              <a:solidFill>
                <a:srgbClr val="102A43"/>
              </a:solidFill>
              <a:latin typeface="Calibri" pitchFamily="0" charset="0"/>
              <a:ea typeface="Calibri" pitchFamily="0" charset="0"/>
              <a:cs typeface="Calibri" pitchFamily="0" charset="0"/>
            </a:endParaRPr>
          </a:p>
        </p:txBody>
      </p:sp>
      <p:sp>
        <p:nvSpPr>
          <p:cNvPr id="317" name="Rectangle"/>
          <p:cNvSpPr>
            <a:spLocks/>
          </p:cNvSpPr>
          <p:nvPr/>
        </p:nvSpPr>
        <p:spPr>
          <a:xfrm rot="0">
            <a:off x="5334000" y="4343400"/>
            <a:ext cx="1238249" cy="2857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1" i="0" u="none" strike="noStrike" kern="1200" cap="none" spc="0" baseline="0">
                <a:solidFill>
                  <a:srgbClr val="F26B5B"/>
                </a:solidFill>
                <a:latin typeface="Calibri" pitchFamily="0" charset="0"/>
                <a:ea typeface="Calibri" pitchFamily="0" charset="0"/>
                <a:cs typeface="Calibri" pitchFamily="0" charset="0"/>
              </a:rPr>
              <a:t>Week 4</a:t>
            </a:r>
            <a:endParaRPr lang="zh-CN" altLang="en-US" sz="1425" b="1" i="0" u="none" strike="noStrike" kern="1200" cap="none" spc="0" baseline="0">
              <a:solidFill>
                <a:srgbClr val="F26B5B"/>
              </a:solidFill>
              <a:latin typeface="Calibri" pitchFamily="0" charset="0"/>
              <a:ea typeface="Calibri" pitchFamily="0" charset="0"/>
              <a:cs typeface="Calibri" pitchFamily="0" charset="0"/>
            </a:endParaRPr>
          </a:p>
        </p:txBody>
      </p:sp>
      <p:sp>
        <p:nvSpPr>
          <p:cNvPr id="318" name="Rectangle"/>
          <p:cNvSpPr>
            <a:spLocks/>
          </p:cNvSpPr>
          <p:nvPr/>
        </p:nvSpPr>
        <p:spPr>
          <a:xfrm rot="0">
            <a:off x="6667499" y="4343400"/>
            <a:ext cx="4095749" cy="333374"/>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425" b="1" i="0" u="none" strike="noStrike" kern="1200" cap="none" spc="0" baseline="0">
                <a:solidFill>
                  <a:srgbClr val="102A43"/>
                </a:solidFill>
                <a:latin typeface="Calibri" pitchFamily="0" charset="0"/>
                <a:ea typeface="Calibri" pitchFamily="0" charset="0"/>
                <a:cs typeface="Calibri" pitchFamily="0" charset="0"/>
              </a:rPr>
              <a:t>Report and next-month plan</a:t>
            </a:r>
            <a:endParaRPr lang="zh-CN" altLang="en-US" sz="1425" b="1" i="0" u="none" strike="noStrike" kern="1200" cap="none" spc="0" baseline="0">
              <a:solidFill>
                <a:srgbClr val="102A43"/>
              </a:solidFill>
              <a:latin typeface="Calibri" pitchFamily="0" charset="0"/>
              <a:ea typeface="Calibri" pitchFamily="0" charset="0"/>
              <a:cs typeface="Calibri" pitchFamily="0" charset="0"/>
            </a:endParaRPr>
          </a:p>
        </p:txBody>
      </p:sp>
      <p:sp>
        <p:nvSpPr>
          <p:cNvPr id="319" name="Rounded rectangle"/>
          <p:cNvSpPr>
            <a:spLocks/>
          </p:cNvSpPr>
          <p:nvPr/>
        </p:nvSpPr>
        <p:spPr>
          <a:xfrm rot="0">
            <a:off x="5334000" y="5181599"/>
            <a:ext cx="5619750" cy="647700"/>
          </a:xfrm>
          <a:prstGeom prst="roundRect">
            <a:avLst>
              <a:gd name="adj" fmla="val 17648"/>
            </a:avLst>
          </a:prstGeom>
          <a:solidFill>
            <a:srgbClr val="EAF6FB"/>
          </a:solidFill>
          <a:ln w="9525" cmpd="sng" cap="flat">
            <a:solidFill>
              <a:srgbClr val="EAF6FB"/>
            </a:solidFill>
            <a:prstDash val="solid"/>
            <a:round/>
          </a:ln>
        </p:spPr>
      </p:sp>
      <p:sp>
        <p:nvSpPr>
          <p:cNvPr id="320" name="Rectangle"/>
          <p:cNvSpPr>
            <a:spLocks/>
          </p:cNvSpPr>
          <p:nvPr/>
        </p:nvSpPr>
        <p:spPr>
          <a:xfrm rot="0">
            <a:off x="5524499" y="5324474"/>
            <a:ext cx="5238749" cy="361949"/>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500" b="1" i="0" u="none" strike="noStrike" kern="1200" cap="none" spc="0" baseline="0">
                <a:solidFill>
                  <a:srgbClr val="102A43"/>
                </a:solidFill>
                <a:latin typeface="Calibri" pitchFamily="0" charset="0"/>
                <a:ea typeface="Calibri" pitchFamily="0" charset="0"/>
                <a:cs typeface="Calibri" pitchFamily="0" charset="0"/>
              </a:rPr>
              <a:t>Payment: 50% advance · 50% after launch</a:t>
            </a:r>
            <a:endParaRPr lang="zh-CN" altLang="en-US" sz="1500" b="1" i="0" u="none" strike="noStrike" kern="1200" cap="none" spc="0" baseline="0">
              <a:solidFill>
                <a:srgbClr val="102A43"/>
              </a:solidFill>
              <a:latin typeface="Calibri" pitchFamily="0" charset="0"/>
              <a:ea typeface="Calibri" pitchFamily="0" charset="0"/>
              <a:cs typeface="Calibri" pitchFamily="0" charset="0"/>
            </a:endParaRPr>
          </a:p>
        </p:txBody>
      </p:sp>
      <p:sp>
        <p:nvSpPr>
          <p:cNvPr id="322" name="Rectangle"/>
          <p:cNvSpPr>
            <a:spLocks/>
          </p:cNvSpPr>
          <p:nvPr/>
        </p:nvSpPr>
        <p:spPr>
          <a:xfrm rot="0">
            <a:off x="11125200" y="6515100"/>
            <a:ext cx="457200" cy="171449"/>
          </a:xfrm>
          <a:prstGeom prst="rect"/>
          <a:noFill/>
          <a:ln w="0" cmpd="sng" cap="flat">
            <a:noFill/>
            <a:prstDash val="solid"/>
            <a:round/>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r>
              <a:rPr lang="en-US" altLang="zh-CN" sz="750" b="1" i="0" u="none" strike="noStrike" kern="1200" cap="none" spc="0" baseline="0">
                <a:solidFill>
                  <a:srgbClr val="5D7184"/>
                </a:solidFill>
                <a:latin typeface="Calibri" pitchFamily="0" charset="0"/>
                <a:ea typeface="Calibri" pitchFamily="0" charset="0"/>
                <a:cs typeface="Calibri" pitchFamily="0" charset="0"/>
              </a:rPr>
              <a:t>16</a:t>
            </a:r>
            <a:endParaRPr lang="zh-CN" altLang="en-US" sz="750" b="1" i="0" u="none" strike="noStrike" kern="1200" cap="none" spc="0" baseline="0">
              <a:solidFill>
                <a:srgbClr val="5D7184"/>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516133178"/>
      </p:ext>
    </p:extLst>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p:cSld>
    <p:bg>
      <p:bgPr>
        <a:solidFill>
          <a:srgbClr val="102A43"/>
        </a:solidFill>
      </p:bgPr>
    </p:bg>
    <p:spTree>
      <p:nvGrpSpPr>
        <p:cNvPr id="1" name=""/>
        <p:cNvGrpSpPr/>
        <p:nvPr/>
      </p:nvGrpSpPr>
      <p:grpSpPr>
        <a:xfrm>
          <a:off x="0" y="0"/>
          <a:ext cx="0" cy="0"/>
          <a:chOff x="0" y="0"/>
          <a:chExt cx="0" cy="0"/>
        </a:xfrm>
      </p:grpSpPr>
      <p:sp>
        <p:nvSpPr>
          <p:cNvPr id="326" name="Rectangle"/>
          <p:cNvSpPr>
            <a:spLocks/>
          </p:cNvSpPr>
          <p:nvPr/>
        </p:nvSpPr>
        <p:spPr>
          <a:xfrm rot="0">
            <a:off x="685800" y="590550"/>
            <a:ext cx="3143249" cy="2667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050" b="1" i="0" u="none" strike="noStrike" kern="1200" cap="none" spc="0" baseline="0">
                <a:solidFill>
                  <a:srgbClr val="9EDBF0"/>
                </a:solidFill>
                <a:latin typeface="Calibri" pitchFamily="0" charset="0"/>
                <a:ea typeface="Calibri" pitchFamily="0" charset="0"/>
                <a:cs typeface="Calibri" pitchFamily="0" charset="0"/>
              </a:rPr>
              <a:t>OUR RECOMMENDATION</a:t>
            </a:r>
            <a:endParaRPr lang="zh-CN" altLang="en-US" sz="1050" b="1" i="0" u="none" strike="noStrike" kern="1200" cap="none" spc="0" baseline="0">
              <a:solidFill>
                <a:srgbClr val="9EDBF0"/>
              </a:solidFill>
              <a:latin typeface="Calibri" pitchFamily="0" charset="0"/>
              <a:ea typeface="Calibri" pitchFamily="0" charset="0"/>
              <a:cs typeface="Calibri" pitchFamily="0" charset="0"/>
            </a:endParaRPr>
          </a:p>
        </p:txBody>
      </p:sp>
      <p:sp>
        <p:nvSpPr>
          <p:cNvPr id="327" name="Rectangle"/>
          <p:cNvSpPr>
            <a:spLocks/>
          </p:cNvSpPr>
          <p:nvPr/>
        </p:nvSpPr>
        <p:spPr>
          <a:xfrm rot="0">
            <a:off x="685800" y="1352550"/>
            <a:ext cx="6858000" cy="123825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3900" b="1" i="0" u="none" strike="noStrike" kern="1200" cap="none" spc="0" baseline="0">
                <a:solidFill>
                  <a:srgbClr val="FFFFFF"/>
                </a:solidFill>
                <a:latin typeface="Calibri" pitchFamily="0" charset="0"/>
                <a:ea typeface="Calibri" pitchFamily="0" charset="0"/>
                <a:cs typeface="Calibri" pitchFamily="0" charset="0"/>
              </a:rPr>
              <a:t>Sell the solution.</a:t>
            </a:r>
            <a:endParaRPr lang="en-US" altLang="zh-CN" sz="3900" b="1" i="0" u="none" strike="noStrike" kern="1200" cap="none" spc="0" baseline="0">
              <a:solidFill>
                <a:srgbClr val="FFFFFF"/>
              </a:solidFill>
              <a:latin typeface="Calibri" pitchFamily="0" charset="0"/>
              <a:ea typeface="Calibri" pitchFamily="0" charset="0"/>
              <a:cs typeface="Calibri" pitchFamily="0" charset="0"/>
            </a:endParaRPr>
          </a:p>
          <a:p>
            <a:pPr marL="0" indent="0" algn="l">
              <a:lnSpc>
                <a:spcPct val="100000"/>
              </a:lnSpc>
              <a:spcBef>
                <a:spcPts val="0"/>
              </a:spcBef>
              <a:spcAft>
                <a:spcPts val="0"/>
              </a:spcAft>
              <a:buNone/>
            </a:pPr>
            <a:r>
              <a:rPr lang="en-US" altLang="zh-CN" sz="3900" b="1" i="0" u="none" strike="noStrike" kern="1200" cap="none" spc="0" baseline="0">
                <a:solidFill>
                  <a:srgbClr val="FFFFFF"/>
                </a:solidFill>
                <a:latin typeface="Calibri" pitchFamily="0" charset="0"/>
                <a:ea typeface="Calibri" pitchFamily="0" charset="0"/>
                <a:cs typeface="Calibri" pitchFamily="0" charset="0"/>
              </a:rPr>
              <a:t>Prove the result.</a:t>
            </a:r>
            <a:endParaRPr lang="zh-CN" altLang="en-US" sz="3900" b="1" i="0" u="none" strike="noStrike" kern="1200" cap="none" spc="0" baseline="0">
              <a:solidFill>
                <a:srgbClr val="FFFFFF"/>
              </a:solidFill>
              <a:latin typeface="Calibri" pitchFamily="0" charset="0"/>
              <a:ea typeface="Calibri" pitchFamily="0" charset="0"/>
              <a:cs typeface="Calibri" pitchFamily="0" charset="0"/>
            </a:endParaRPr>
          </a:p>
        </p:txBody>
      </p:sp>
      <p:sp>
        <p:nvSpPr>
          <p:cNvPr id="328" name="Rectangle"/>
          <p:cNvSpPr>
            <a:spLocks/>
          </p:cNvSpPr>
          <p:nvPr/>
        </p:nvSpPr>
        <p:spPr>
          <a:xfrm rot="0">
            <a:off x="685800" y="3048000"/>
            <a:ext cx="7239000" cy="1104900"/>
          </a:xfrm>
          <a:prstGeom prst="rect"/>
          <a:noFill/>
          <a:ln w="0" cmpd="sng" cap="flat">
            <a:noFill/>
            <a:prstDash val="solid"/>
            <a:round/>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solidFill>
                  <a:srgbClr val="DDEAF2"/>
                </a:solidFill>
                <a:latin typeface="Calibri" pitchFamily="0" charset="0"/>
                <a:ea typeface="Calibri" pitchFamily="0" charset="0"/>
                <a:cs typeface="Calibri" pitchFamily="0" charset="0"/>
              </a:rPr>
              <a:t>Productify by emay can grow direct sales by pairing relatable product demos with focused search campaigns, trustworthy pages and weekly sales reporting.</a:t>
            </a:r>
            <a:endParaRPr lang="zh-CN" altLang="en-US" sz="1800" b="0" i="0" u="none" strike="noStrike" kern="1200" cap="none" spc="0" baseline="0">
              <a:solidFill>
                <a:srgbClr val="DDEAF2"/>
              </a:solidFill>
              <a:latin typeface="Calibri" pitchFamily="0" charset="0"/>
              <a:ea typeface="Calibri" pitchFamily="0" charset="0"/>
              <a:cs typeface="Calibri" pitchFamily="0" charset="0"/>
            </a:endParaRPr>
          </a:p>
        </p:txBody>
      </p:sp>
      <p:sp>
        <p:nvSpPr>
          <p:cNvPr id="329" name="Rounded rectangle"/>
          <p:cNvSpPr>
            <a:spLocks/>
          </p:cNvSpPr>
          <p:nvPr/>
        </p:nvSpPr>
        <p:spPr>
          <a:xfrm rot="0">
            <a:off x="685800" y="4838700"/>
            <a:ext cx="8763000" cy="685800"/>
          </a:xfrm>
          <a:prstGeom prst="roundRect">
            <a:avLst>
              <a:gd name="adj" fmla="val 16666"/>
            </a:avLst>
          </a:prstGeom>
          <a:solidFill>
            <a:srgbClr val="FFFFFF"/>
          </a:solidFill>
          <a:ln w="9525" cmpd="sng" cap="flat">
            <a:solidFill>
              <a:srgbClr val="FFFFFF"/>
            </a:solidFill>
            <a:prstDash val="solid"/>
            <a:round/>
          </a:ln>
        </p:spPr>
      </p:sp>
      <p:sp>
        <p:nvSpPr>
          <p:cNvPr id="330" name="Rectangle"/>
          <p:cNvSpPr>
            <a:spLocks/>
          </p:cNvSpPr>
          <p:nvPr/>
        </p:nvSpPr>
        <p:spPr>
          <a:xfrm rot="0">
            <a:off x="933450" y="4981575"/>
            <a:ext cx="8286750" cy="38100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725" b="1" i="0" u="none" strike="noStrike" kern="1200" cap="none" spc="0" baseline="0">
                <a:solidFill>
                  <a:srgbClr val="102A43"/>
                </a:solidFill>
                <a:latin typeface="Calibri" pitchFamily="0" charset="0"/>
                <a:ea typeface="Calibri" pitchFamily="0" charset="0"/>
                <a:cs typeface="Calibri" pitchFamily="0" charset="0"/>
              </a:rPr>
              <a:t>One catalogue · Clear campaigns · More completed orders</a:t>
            </a:r>
            <a:endParaRPr lang="zh-CN" altLang="en-US" sz="1725" b="1" i="0" u="none" strike="noStrike" kern="1200" cap="none" spc="0" baseline="0">
              <a:solidFill>
                <a:srgbClr val="102A43"/>
              </a:solidFill>
              <a:latin typeface="Calibri" pitchFamily="0" charset="0"/>
              <a:ea typeface="Calibri" pitchFamily="0" charset="0"/>
              <a:cs typeface="Calibri" pitchFamily="0" charset="0"/>
            </a:endParaRPr>
          </a:p>
        </p:txBody>
      </p:sp>
      <p:sp>
        <p:nvSpPr>
          <p:cNvPr id="331" name="Rectangle"/>
          <p:cNvSpPr>
            <a:spLocks/>
          </p:cNvSpPr>
          <p:nvPr/>
        </p:nvSpPr>
        <p:spPr>
          <a:xfrm rot="0">
            <a:off x="9906001" y="5019675"/>
            <a:ext cx="1524000" cy="361950"/>
          </a:xfrm>
          <a:prstGeom prst="rect"/>
          <a:noFill/>
          <a:ln w="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650" b="1" i="0" u="none" strike="noStrike" kern="1200" cap="none" spc="0" baseline="0">
                <a:solidFill>
                  <a:srgbClr val="9EDBF0"/>
                </a:solidFill>
                <a:latin typeface="Calibri" pitchFamily="0" charset="0"/>
                <a:ea typeface="Calibri" pitchFamily="0" charset="0"/>
                <a:cs typeface="Calibri" pitchFamily="0" charset="0"/>
              </a:rPr>
              <a:t>Questions?</a:t>
            </a:r>
            <a:endParaRPr lang="zh-CN" altLang="en-US" sz="1650" b="1" i="0" u="none" strike="noStrike" kern="1200" cap="none" spc="0" baseline="0">
              <a:solidFill>
                <a:srgbClr val="9EDBF0"/>
              </a:solidFill>
              <a:latin typeface="Calibri" pitchFamily="0" charset="0"/>
              <a:ea typeface="Calibri" pitchFamily="0" charset="0"/>
              <a:cs typeface="Calibri" pitchFamily="0" charset="0"/>
            </a:endParaRPr>
          </a:p>
        </p:txBody>
      </p:sp>
    </p:spTree>
    <p:extLst>
      <p:ext uri="{BB962C8B-B14F-4D97-AF65-F5344CB8AC3E}">
        <p14:creationId xmlns:p14="http://schemas.microsoft.com/office/powerpoint/2010/main" val="5220024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hatGPT">
      <a:majorFont>
        <a:latin typeface=""/>
        <a:ea typeface=""/>
        <a:cs typeface=""/>
      </a:majorFont>
      <a:minorFont>
        <a:latin typeface=""/>
        <a:ea typeface=""/>
        <a:cs typeface=""/>
      </a:minorFont>
    </a:fontScheme>
    <a:fmtScheme name="ChatGPT">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14</TotalTime>
  <Application>Office</Application>
</Properties>
</file>

<file path=docProps/core.xml><?xml version="1.0" encoding="utf-8"?>
<cp:coreProperties xmlns:cp="http://schemas.openxmlformats.org/package/2006/metadata/core-properties" xmlns:dc="http://purl.org/dc/elements/1.1/" xmlns:dcterms="http://purl.org/dc/terms/" xmlns:xsi="http://www.w3.org/2001/XMLSchema-instance">
  <cp:lastModifiedBy>Mobile phone user</cp:lastModifiedBy>
  <cp:revision>0</cp:revision>
  <dcterms:modified xsi:type="dcterms:W3CDTF">2026-10-27T15:08:43Z</dcterms:modified>
</cp:coreProperties>
</file>